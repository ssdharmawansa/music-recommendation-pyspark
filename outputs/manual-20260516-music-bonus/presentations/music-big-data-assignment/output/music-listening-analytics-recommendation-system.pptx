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01ecc43b204f43" /><Relationship Type="http://schemas.openxmlformats.org/officeDocument/2006/relationships/extended-properties" Target="/docProps/app.xml" Id="R4425f9006b9541d9" /><Relationship Type="http://schemas.openxmlformats.org/officeDocument/2006/relationships/officeDocument" Target="/ppt/presentation.xml" Id="Rc58692d144de48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25663072d144a1"/>
  </p:sldMasterIdLst>
  <p:notesMasterIdLst>
    <p:notesMasterId xmlns:r="http://schemas.openxmlformats.org/officeDocument/2006/relationships" r:id="R246ebb2e4bd14775"/>
  </p:notesMasterIdLst>
  <p:sldIdLst>
    <p:sldId xmlns:r="http://schemas.openxmlformats.org/officeDocument/2006/relationships" id="256" r:id="R573b0f4060f74d01"/>
    <p:sldId xmlns:r="http://schemas.openxmlformats.org/officeDocument/2006/relationships" id="257" r:id="Re9c3b9cc5087454f"/>
    <p:sldId xmlns:r="http://schemas.openxmlformats.org/officeDocument/2006/relationships" id="258" r:id="R02a8ee1998184194"/>
    <p:sldId xmlns:r="http://schemas.openxmlformats.org/officeDocument/2006/relationships" id="259" r:id="R902fb67d7b174678"/>
    <p:sldId xmlns:r="http://schemas.openxmlformats.org/officeDocument/2006/relationships" id="260" r:id="R5aa2c836eac94ffa"/>
    <p:sldId xmlns:r="http://schemas.openxmlformats.org/officeDocument/2006/relationships" id="261" r:id="Rb270cfb8d6014d42"/>
    <p:sldId xmlns:r="http://schemas.openxmlformats.org/officeDocument/2006/relationships" id="262" r:id="R785a33cf1ff64c67"/>
    <p:sldId xmlns:r="http://schemas.openxmlformats.org/officeDocument/2006/relationships" id="263" r:id="R629524a14767483e"/>
    <p:sldId xmlns:r="http://schemas.openxmlformats.org/officeDocument/2006/relationships" id="264" r:id="R3a5319dca68b414a"/>
    <p:sldId xmlns:r="http://schemas.openxmlformats.org/officeDocument/2006/relationships" id="265" r:id="R5b5d52512c0d43a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25663072d144a1" /><Relationship Type="http://schemas.openxmlformats.org/officeDocument/2006/relationships/theme" Target="/ppt/theme/theme1.xml" Id="Rf103101aa28246c0" /><Relationship Type="http://schemas.openxmlformats.org/officeDocument/2006/relationships/notesMaster" Target="/ppt/notesMasters/notesMaster1.xml" Id="R246ebb2e4bd14775" /><Relationship Type="http://schemas.openxmlformats.org/officeDocument/2006/relationships/presProps" Target="/ppt/presProps.xml" Id="R09a550166b054eb4" /><Relationship Type="http://schemas.openxmlformats.org/officeDocument/2006/relationships/viewProps" Target="/ppt/viewProps.xml" Id="Re5ebaf49b69a4738" /><Relationship Type="http://schemas.openxmlformats.org/officeDocument/2006/relationships/tableStyles" Target="/ppt/tableStyles.xml" Id="R1c7a61f446ea4de6" /><Relationship Type="http://schemas.openxmlformats.org/officeDocument/2006/relationships/slide" Target="/ppt/slides/slide1.xml" Id="R573b0f4060f74d01" /><Relationship Type="http://schemas.openxmlformats.org/officeDocument/2006/relationships/slide" Target="/ppt/slides/slide2.xml" Id="Re9c3b9cc5087454f" /><Relationship Type="http://schemas.openxmlformats.org/officeDocument/2006/relationships/slide" Target="/ppt/slides/slide3.xml" Id="R02a8ee1998184194" /><Relationship Type="http://schemas.openxmlformats.org/officeDocument/2006/relationships/slide" Target="/ppt/slides/slide4.xml" Id="R902fb67d7b174678" /><Relationship Type="http://schemas.openxmlformats.org/officeDocument/2006/relationships/slide" Target="/ppt/slides/slide5.xml" Id="R5aa2c836eac94ffa" /><Relationship Type="http://schemas.openxmlformats.org/officeDocument/2006/relationships/slide" Target="/ppt/slides/slide6.xml" Id="Rb270cfb8d6014d42" /><Relationship Type="http://schemas.openxmlformats.org/officeDocument/2006/relationships/slide" Target="/ppt/slides/slide7.xml" Id="R785a33cf1ff64c67" /><Relationship Type="http://schemas.openxmlformats.org/officeDocument/2006/relationships/slide" Target="/ppt/slides/slide8.xml" Id="R629524a14767483e" /><Relationship Type="http://schemas.openxmlformats.org/officeDocument/2006/relationships/slide" Target="/ppt/slides/slide9.xml" Id="R3a5319dca68b414a" /><Relationship Type="http://schemas.openxmlformats.org/officeDocument/2006/relationships/slide" Target="/ppt/slides/slide10.xml" Id="R5b5d52512c0d43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c0a0e8adf624c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18904ff9f646e6" /><Relationship Type="http://schemas.openxmlformats.org/officeDocument/2006/relationships/notesMaster" Target="/ppt/notesMasters/notesMaster1.xml" Id="Read185611a444a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c47d2e294e42a5" /><Relationship Type="http://schemas.openxmlformats.org/officeDocument/2006/relationships/notesMaster" Target="/ppt/notesMasters/notesMaster1.xml" Id="Rcd39af5ef1fa48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55e60104cd4639" /><Relationship Type="http://schemas.openxmlformats.org/officeDocument/2006/relationships/notesMaster" Target="/ppt/notesMasters/notesMaster1.xml" Id="R65af90b1dcff4d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4f0b6557264152" /><Relationship Type="http://schemas.openxmlformats.org/officeDocument/2006/relationships/notesMaster" Target="/ppt/notesMasters/notesMaster1.xml" Id="R4fa28ab5b8484c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e0dc443070424d" /><Relationship Type="http://schemas.openxmlformats.org/officeDocument/2006/relationships/notesMaster" Target="/ppt/notesMasters/notesMaster1.xml" Id="Rbc8c41d147f54f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e92fd501d74f2d" /><Relationship Type="http://schemas.openxmlformats.org/officeDocument/2006/relationships/notesMaster" Target="/ppt/notesMasters/notesMaster1.xml" Id="R5c45d8aab1f74c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ecc9e233214b12" /><Relationship Type="http://schemas.openxmlformats.org/officeDocument/2006/relationships/notesMaster" Target="/ppt/notesMasters/notesMaster1.xml" Id="Rf9fcda3029584e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b272f8f56b4e17" /><Relationship Type="http://schemas.openxmlformats.org/officeDocument/2006/relationships/notesMaster" Target="/ppt/notesMasters/notesMaster1.xml" Id="R9e204586568348d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c07e15efcc4ca9" /><Relationship Type="http://schemas.openxmlformats.org/officeDocument/2006/relationships/notesMaster" Target="/ppt/notesMasters/notesMaster1.xml" Id="R3e98a7bc856048a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6ecd7b27754d20" /><Relationship Type="http://schemas.openxmlformats.org/officeDocument/2006/relationships/notesMaster" Target="/ppt/notesMasters/notesMaster1.xml" Id="R1523c97e41c34f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e65cd2838c4da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1f36e11d8be4c37" /><Relationship Type="http://schemas.openxmlformats.org/officeDocument/2006/relationships/slideLayout" Target="/ppt/slideLayouts/slideLayout2.xml" Id="R5f8e2b4b50594b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8e2b4b50594b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ced40847864479" /><Relationship Type="http://schemas.openxmlformats.org/officeDocument/2006/relationships/image" Target="/ppt/media/image.png" Id="R3557773b0c024659" /><Relationship Type="http://schemas.openxmlformats.org/officeDocument/2006/relationships/notesSlide" Target="/ppt/notesSlides/notesSlide1.xml" Id="Rb54fd11d69f14c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34cfe4fefc4358" /><Relationship Type="http://schemas.openxmlformats.org/officeDocument/2006/relationships/notesSlide" Target="/ppt/notesSlides/notesSlide2.xml" Id="R2342becc79f345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9bfbb3a63344e4" /><Relationship Type="http://schemas.openxmlformats.org/officeDocument/2006/relationships/notesSlide" Target="/ppt/notesSlides/notesSlide3.xml" Id="R2e61dd3cad1141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1769853bab4d5e" /><Relationship Type="http://schemas.openxmlformats.org/officeDocument/2006/relationships/notesSlide" Target="/ppt/notesSlides/notesSlide4.xml" Id="R691e3caed88141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77f5ad964b445d" /><Relationship Type="http://schemas.openxmlformats.org/officeDocument/2006/relationships/notesSlide" Target="/ppt/notesSlides/notesSlide5.xml" Id="R0a82cc38fabe47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e26e4b7b1e4d29" /><Relationship Type="http://schemas.openxmlformats.org/officeDocument/2006/relationships/notesSlide" Target="/ppt/notesSlides/notesSlide6.xml" Id="Re5c5fdd99dbb4f6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7b7e6521ee4688" /><Relationship Type="http://schemas.openxmlformats.org/officeDocument/2006/relationships/notesSlide" Target="/ppt/notesSlides/notesSlide7.xml" Id="R9f92575e42cf41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df6934df284fbf" /><Relationship Type="http://schemas.openxmlformats.org/officeDocument/2006/relationships/notesSlide" Target="/ppt/notesSlides/notesSlide8.xml" Id="R4e26045f2d0a41d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08447cf8aa4c1c" /><Relationship Type="http://schemas.openxmlformats.org/officeDocument/2006/relationships/notesSlide" Target="/ppt/notesSlides/notesSlide9.xml" Id="R371a9c63a60f41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5c67fc259b4f19" /><Relationship Type="http://schemas.openxmlformats.org/officeDocument/2006/relationships/notesSlide" Target="/ppt/notesSlides/notesSlide10.xml" Id="R9feb8f6a4fbb41e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7F9E47-21A4-44F1-B859-7FBA7AA5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191C66-A50D-49A8-9F95-B1D91196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Big Data Analytics Mini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7C4076-F099-4B11-9503-C81BB10E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5334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Music Recommendation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012E7-CB24-4177-911D-22BFB7F0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514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Using PySpark and the Last.fm 1K listening dataset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FA6634-4E74-4E7D-86EA-A02EAFFD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57600"/>
            <a:ext cx="5334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Part A: Listening analytics and user segmentation</a:t>
            </a:r>
          </a:p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Part B: ALS collaborative filtering recommendations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5D254E-FAF9-40F5-8EF6-66218A67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3DBA8-DDC0-4CD8-9163-D6BA4F6B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Dataset: Last.fm Dataset - 1K users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0B2E2B-D2D0-4AEB-9202-1CD620D4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Big Data Analytics Mini Project | Last.fm 1K | PySpark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8F4C28-64FB-4E0A-9971-AE6B0CC4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57773b0c024659"/>
          <a:stretch xmlns:a="http://schemas.openxmlformats.org/drawingml/2006/main"/>
        </p:blipFill>
        <p:spPr>
          <a:xfrm xmlns:a="http://schemas.openxmlformats.org/drawingml/2006/main">
            <a:off x="6858000" y="1345406"/>
            <a:ext cx="3905250" cy="29289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57749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731BD3-A2FC-418B-9F42-9D0A36AC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-2">
            <a:extLst xmlns:a="http://schemas.openxmlformats.org/drawingml/2006/main">
              <a:ext uri="{FF2B5EF4-FFF2-40B4-BE49-F238E27FC236}">
                <a16:creationId xmlns:a16="http://schemas.microsoft.com/office/drawing/2014/main" id="{CC290546-4D80-4A16-A442-9F0E4200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-2">
            <a:extLst xmlns:a="http://schemas.openxmlformats.org/drawingml/2006/main">
              <a:ext uri="{FF2B5EF4-FFF2-40B4-BE49-F238E27FC236}">
                <a16:creationId xmlns:a16="http://schemas.microsoft.com/office/drawing/2014/main" id="{4EEBDC8A-A065-4937-9F84-56B877F2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ASSIGNMENT REQUIREMENTS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43B3CD-5346-48EA-8177-B6BA58AB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23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Project Scope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064924-EC81-432B-B97C-71F215AD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The submission covers the required music recommendation system and the extra analytics work for bonus marks.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20433C-367B-434B-A6AF-E0AA16D7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4381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63046E-005B-4A95-A3E2-C9EEFB19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98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Part 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7D5D52-ABA6-4B7C-ADAE-B790CCD8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1465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Big Data Analytics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2D650F-37C5-476C-95D2-D4C539E1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814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Spark aggregations, temporal patterns, country analysis, and KMeans listener segmentation.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53577C-F6CF-4321-8719-DF721095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33625"/>
            <a:ext cx="4381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5E42D2-2AED-425F-8F9E-97CB6CEF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098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E123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E123C"/>
                </a:solidFill>
                <a:latin typeface="Aptos"/>
                <a:ea typeface="Aptos"/>
                <a:cs typeface="Aptos"/>
              </a:rPr>
              <a:t>Part 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A0970-9B47-4F72-A20B-C1DBDE68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914650"/>
            <a:ext cx="3333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Recommendation 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E13901-8C6F-4375-A4BA-E64992F4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814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Spark MLlib ALS on implicit feedback, model evaluation, and top-10 song recommendations.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F14FCB-DAA8-46C0-AAC7-BEBE47CE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90875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BE779D-6BA3-42F6-883B-25F04FDE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765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BONUS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EF703-8564-4072-ABFB-0F648666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29200"/>
            <a:ext cx="7886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143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EF7276-4F2F-4C25-8B7A-E691A56B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2920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349C3B-A813-4511-879D-EEB4D86E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62550"/>
            <a:ext cx="7600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Submission files: two executed Jupyter notebooks, README, generated CSV outputs, and this presentation.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A9970B-E7FE-4A12-85B5-F58A5344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Big Data Analytics Mini Project | Last.fm 1K | PySpark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4EE9A8-984E-4756-9DD8-1EEB68C0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2229644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7C2BE2-30A9-4F01-8612-65E1AD09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-3">
            <a:extLst xmlns:a="http://schemas.openxmlformats.org/drawingml/2006/main">
              <a:ext uri="{FF2B5EF4-FFF2-40B4-BE49-F238E27FC236}">
                <a16:creationId xmlns:a16="http://schemas.microsoft.com/office/drawing/2014/main" id="{E8118A99-F463-458F-9767-DEAC6131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-3">
            <a:extLst xmlns:a="http://schemas.openxmlformats.org/drawingml/2006/main">
              <a:ext uri="{FF2B5EF4-FFF2-40B4-BE49-F238E27FC236}">
                <a16:creationId xmlns:a16="http://schemas.microsoft.com/office/drawing/2014/main" id="{8496B1CD-CA05-41B2-A093-DAB79DB2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7389B-ED0C-4A81-A6D5-B5E7CB29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23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Data Processing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74A4C-8F0B-4213-AA53-FDD5FD70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The same cleaned Last.fm data is used for analytics, clustering, and music recommendation.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F592D-50AC-4BF3-9B0F-39C9D1F6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2238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9953B0-4239-4FEC-B91A-DEAA6F4A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DF5AE9-C590-4C1E-BC54-DD45FE74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895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Raw Last.fm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EF8DD-C9B1-45BE-873A-6B6B1966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18764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Listening history TSV plus user profile TSV from the downloaded dataset folder.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A1EA6C-34E8-419E-8903-D4598603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81325"/>
            <a:ext cx="904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1E3B4F-08A1-43FF-9CE0-388D1B0A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24175"/>
            <a:ext cx="133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D2E8E-D153-49D7-B617-69F96C97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3CE66C-F5AA-4E97-9A29-A06B6106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8276DA-6240-4EAC-825B-BEE7F99E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6700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PySpark cleaning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C95DFA-4713-4A4F-9272-AADAF4AB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0990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Schema, timestamp parsing, track key fallback, profile join, and de-duplication.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6ABBA5-B4F4-48F1-9E01-5D9402C1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98132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23EF51-A650-4338-B574-8124E9D6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24175"/>
            <a:ext cx="133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539475-5B4B-46EA-A6F9-52FFCB9F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7650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68D37E-78C5-477E-853D-19CDD299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765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1EB0CD-AABD-440C-BF30-E8E1E478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67000"/>
            <a:ext cx="2324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Feature engineering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BD41A4-848B-403B-8D84-4A859627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2305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Play counts, listening hour, day, diversity, repeat rate, and ALS indexes.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DE0D03-121B-4D73-AB4A-58683486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829050"/>
            <a:ext cx="381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1099D3-0CDA-42DD-9786-936C2B4C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591050"/>
            <a:ext cx="3886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CB4CD7-552D-4D5F-9F41-0C87AAE8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591050"/>
            <a:ext cx="3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36F09F-8B37-4CEE-9770-1A87EAEF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3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F9F125-96F6-4E79-915A-9F9232D3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2920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6D28D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D55DD2-CF30-4C0C-B571-119F8F8F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292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F3C128-E692-4372-839F-7A6FA22F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2197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Part A analytics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5A2568-5F01-4C25-A221-563FB00E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62600"/>
            <a:ext cx="2686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EDA, temporal trends, country analysis, and KMeans user segments.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4C372D-CE3D-4056-A5BA-87BEDDE8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2920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E123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6A8109-E428-4AA4-A42C-93A66031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292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5E2228-6C0B-4CD0-8A63-18C285BB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97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Part B recommender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E3368D-8F22-48BF-831B-0892DA2B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62600"/>
            <a:ext cx="2686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ALS collaborative filtering and top-10 music recommendations.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DEEE49-B3F7-45C6-AC7E-66FAE3BE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Big Data Analytics Mini Project | Last.fm 1K | PySpark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E6405F-A1B6-4AF8-9DD8-BCF8597C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56050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0C0404-616D-41C2-9CA4-9F59CC4B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-4">
            <a:extLst xmlns:a="http://schemas.openxmlformats.org/drawingml/2006/main">
              <a:ext uri="{FF2B5EF4-FFF2-40B4-BE49-F238E27FC236}">
                <a16:creationId xmlns:a16="http://schemas.microsoft.com/office/drawing/2014/main" id="{656ADA23-15B5-4377-A19F-D13CE936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-4">
            <a:extLst xmlns:a="http://schemas.openxmlformats.org/drawingml/2006/main">
              <a:ext uri="{FF2B5EF4-FFF2-40B4-BE49-F238E27FC236}">
                <a16:creationId xmlns:a16="http://schemas.microsoft.com/office/drawing/2014/main" id="{FFF1080B-6D6B-4AFB-9959-52B81CEB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04CB56-3066-46C7-B0B9-1D8F98F1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23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Dataset 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6A8408-F8D1-456B-8558-E34E1FB1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The notebook uses a laptop-safe sample of 1,000,000 listening events from the Last.fm 1K dataset.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4F8B1-9A83-4831-AA60-51276BE4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2000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5A7B2-2A6A-4713-BB5C-AD0EA44B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1695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1,000,000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70A6AE-AAA1-44D5-8B97-18065554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events processed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1DAE6D-76FB-475F-A11D-A3DF9CAD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43150"/>
            <a:ext cx="1809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D9FCAC-BA9F-4E25-AA85-1381AE63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955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0637E2-2DE9-4062-BF54-49211AF5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38450"/>
            <a:ext cx="1504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active users in sample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FC213-BBAF-4AD8-9979-A5D7A3C6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43150"/>
            <a:ext cx="1809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E70944-BBD5-483E-B957-46299126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955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23,007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DF1CF-C979-44A6-86E7-615F490A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38450"/>
            <a:ext cx="1504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unique artists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8F9023-CC78-44A7-9B44-68EE4924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43150"/>
            <a:ext cx="19526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A97182-4185-42AC-AAE5-DFB73132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95550"/>
            <a:ext cx="16478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E123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BE123C"/>
                </a:solidFill>
                <a:latin typeface="Aptos"/>
                <a:ea typeface="Aptos"/>
                <a:cs typeface="Aptos"/>
              </a:rPr>
              <a:t>159,093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1BC0C7-AE8F-4CB7-9836-4DB0415B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3845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unique tracks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CEDE21-1C68-414C-BD66-F778C90D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43150"/>
            <a:ext cx="1714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0317D1-8444-40BC-AE45-2C83A8BA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95550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6D28D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66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E21A4F-14FF-4215-8B94-1513FEE9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38450"/>
            <a:ext cx="140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profile countries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71E99A-B52E-4317-94BD-BDE29E18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Top profile countries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CF1139-2901-488B-BC45-0E1E2262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United States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B623E0-1C6C-4D8E-92B2-407FD716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62450"/>
            <a:ext cx="3714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27859E-1011-4755-9DB0-C4F458AF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3387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228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489CA0-15AF-4D39-B3DF-9EE92D11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United Kingdom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0E4987-D7FA-450E-9D56-6A436145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648200"/>
            <a:ext cx="2052888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A9D92E-F116-4E01-86BF-CF0A5A84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5088" y="461962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126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E51F5C-6AA9-454F-ADB3-A22707EC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Poland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4DF119-AAB4-489E-926C-64107353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33950"/>
            <a:ext cx="814638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356C3B-C3AA-4110-B4BA-7BE66919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838" y="490537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B9B6BD-7C80-49CC-8038-D3A79C9C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2CE72D-A44C-4BEF-A512-6E75D179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19700"/>
            <a:ext cx="586539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149827-2E74-4F96-BF49-E7C123B3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739" y="519112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D6AC4D-ACB6-4F60-AADF-ABB100DF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864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Norway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DADBD1-D38C-4BE0-8815-E33E1D5B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05450"/>
            <a:ext cx="570247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0D6D76-F641-4389-82B2-F20A4185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2447" y="547687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74A7AC-560D-4CE6-BE3F-48D5D634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21389A-5137-4B1C-A5E4-ADCB1534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791200"/>
            <a:ext cx="521368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FC05E8-812E-41A8-8C13-12B9D1D8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3568" y="576262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3D84DA-B192-474C-8FDC-7BF310A6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3143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This sample is large enough to show Spark loading, cleaning, joins, aggregations, feature preparation, and model training.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49946F5-EBFA-4B76-99F5-48CBD0E3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57650"/>
            <a:ext cx="4762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8B849F-ED49-4EB7-A65C-070D57F7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Big Data Analytics Mini Project | Last.fm 1K | PySpark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5B990D7-F93B-405B-8D5B-9E5C3576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0921708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DC971D-CA0B-47CF-AA26-04EC4A26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-5">
            <a:extLst xmlns:a="http://schemas.openxmlformats.org/drawingml/2006/main">
              <a:ext uri="{FF2B5EF4-FFF2-40B4-BE49-F238E27FC236}">
                <a16:creationId xmlns:a16="http://schemas.microsoft.com/office/drawing/2014/main" id="{3ACDFE6D-95DA-4272-BD2F-A70C1343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-5">
            <a:extLst xmlns:a="http://schemas.openxmlformats.org/drawingml/2006/main">
              <a:ext uri="{FF2B5EF4-FFF2-40B4-BE49-F238E27FC236}">
                <a16:creationId xmlns:a16="http://schemas.microsoft.com/office/drawing/2014/main" id="{23F53A9E-2E29-4027-B9FE-B431B2F1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PART 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916618-795C-4F3D-85B6-A2FB2434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23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Big Data Analytics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3BE479-5171-4E57-A470-E70BA612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Spark aggregations are used to find the most listened artists and tracks.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1714B6-C79B-454F-901F-9E6C3C25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Kanye West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0FC82D-4E06-4A6A-8738-717FAEBC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514600"/>
            <a:ext cx="3714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02EFBC-82FF-40F1-8736-13853C6E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8602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27,267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43113-5BBF-4A63-8E46-D71A023B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956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Dir En Grey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F741A-447C-44F4-8856-3D22BBD4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14650"/>
            <a:ext cx="1635651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48610A-CAAA-43A0-8C1D-8BF6FD43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9751" y="288607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12,006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E0AD68-AAB2-4EAA-B6F4-B3278DA2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Radiohead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C2D9FD-1D3C-4CCE-9BCB-832A7A73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314700"/>
            <a:ext cx="97504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AC97F9-5EAA-4BFC-8315-DCEEEEDD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9142" y="328612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7,157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314E54-A7D0-4552-A4C2-C5457338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957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Nine Inch Nails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6720E1-A019-4948-BAE0-74CA610E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714750"/>
            <a:ext cx="914281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59CE71-BF8B-430E-9ECD-3B0BD75F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381" y="368617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6,711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2844E1-B6D9-4538-9B1C-A912572D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E1133B-A1F4-462D-BBC8-97955641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114800"/>
            <a:ext cx="824501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7B6F27-B1D9-4DE6-8B6B-3648FB81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8601" y="408622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6,052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684E74-A815-4E8A-B168-632BEAF4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T.I.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89063D-3721-4B15-BFB3-1090D3CD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734858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C304FC-22D1-46BE-9656-D22A5EB0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8958" y="4486275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5,394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E259B3-C58A-4930-B342-35826427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765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7A7594-A84D-49FA-935C-53CB026A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3365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Top track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A82D79-55A2-405F-9EE5-784E9122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FAD6FE-F424-4D21-8BA9-B138CC6A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33650"/>
            <a:ext cx="1276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Artist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734537-286A-41A7-A75D-F28D5178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0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82B05B-E619-4052-9E03-32C4CDC3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253365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AC80CB-9C9B-4C39-BB99-02516EA7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765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F6EF5E-FBFE-449E-B5BA-B99AC7D4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9337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See You In My Nightmares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DF52B7-760B-4C6F-ABAA-2FB94993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87655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C9F5CF-83C8-4097-9474-9F1D0CE3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933700"/>
            <a:ext cx="1276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Kanye West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72A42A-EC67-4803-8D06-E027E823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76550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468C02-E5F7-435F-AF11-AF16F555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293370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2,069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6C4BC4-2BA1-4FD1-8E5E-E9B46A0C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766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FCBA845-E9CB-4C03-AA9B-74B1AFA9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3375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Say You Will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5A65CBF-6165-473E-BBCD-C4C20569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766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7D9E727-E2CE-485A-8EE6-5EFFC8A9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33750"/>
            <a:ext cx="1276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Kanye West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AF0D5B-BF6F-46C8-B05D-EC194B28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276600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4350856-C7AE-461A-85C4-B97CB7E3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33375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2,065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7CC183-8798-46A2-8937-2968BCEB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766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9AFA8B-4A66-488B-944F-05460A46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338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Heartless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93C9CC-A085-429D-80E6-59CF85E0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7665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8556D8-DC13-445D-B36F-D1CC6E9E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733800"/>
            <a:ext cx="1276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Kanye West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23CBB2-EEE7-4050-A172-9C753F5B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676650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2C87AEF-18DE-4509-ACB5-53EB73AD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73380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2,063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9A7309D-4DA1-457C-8C1B-7F7CF287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767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D727B8-98D3-43C3-A152-8B15727E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3385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Love Lockdown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6485D95-FDA7-4F29-ADDD-603E4990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767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769161-9C56-4E44-A8C5-7DF12EAC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33850"/>
            <a:ext cx="1276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Kanye West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14470A8-A752-4C72-AA53-443633C4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76700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F96EB6E-58D0-4CA5-B577-32647AD7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4133850"/>
            <a:ext cx="704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2,062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323238-DA0D-4830-9D61-CFD79827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578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1430">
            <a:solidFill>
              <a:srgbClr val="D97706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DE8DA96-21E0-4CAC-8328-DFBC6793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578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6BA38E5-C903-4C36-8587-15DEFBB3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91150"/>
            <a:ext cx="828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Finding: a small group of artists and tracks receives many repeated listens, so play count is useful as implicit feedback.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6A0FD8B-0334-4DC6-9B75-85510BEC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Big Data Analytics Mini Project | Last.fm 1K | PySpark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58E305E-9BB0-4602-B59C-445BE3E5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8200453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6DF93B-A856-4059-B834-D18030FC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-6">
            <a:extLst xmlns:a="http://schemas.openxmlformats.org/drawingml/2006/main">
              <a:ext uri="{FF2B5EF4-FFF2-40B4-BE49-F238E27FC236}">
                <a16:creationId xmlns:a16="http://schemas.microsoft.com/office/drawing/2014/main" id="{8956A0B1-B8D7-4DF0-8E33-5BB7BAA7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-6">
            <a:extLst xmlns:a="http://schemas.openxmlformats.org/drawingml/2006/main">
              <a:ext uri="{FF2B5EF4-FFF2-40B4-BE49-F238E27FC236}">
                <a16:creationId xmlns:a16="http://schemas.microsoft.com/office/drawing/2014/main" id="{E77C5564-A24D-42E6-AC7D-4D3628AD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PART 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F63528-8939-4F51-9F6B-1EFEBE44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23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Listening Time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5CBEC-F722-4C07-A82E-1B6A2314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Timestamp features are used to compare listening activity by day and hour.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521D8C-9554-4FDD-8975-06E9411D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Listening events by day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D5B07B-68CE-4423-B522-9433486F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62290"/>
            <a:ext cx="495300" cy="1704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78FC17-A0AB-45A7-96B8-EF6BEFED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7625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Mon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A73EB8-9688-4F0D-8AF0-35E6A5F9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44475"/>
            <a:ext cx="495300" cy="1722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B70A4-65F1-4638-A3AA-63091B8A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5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E9A9E-E9F7-42BD-A3DA-6B06D48B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003785"/>
            <a:ext cx="495300" cy="16634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1F0AC-1D07-48A8-B0D1-EC612400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625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Wed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A317C8-56E5-4BCB-9263-4FD86171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95216"/>
            <a:ext cx="495300" cy="16720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0ED81E-D8BB-4585-9439-07F38270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625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5C1071-094A-473B-B2E7-761EBF85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70509"/>
            <a:ext cx="495300" cy="16967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018A72-043E-41BE-867B-425765E7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7625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Fri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391A99-DCFA-4124-BA3B-01DC831E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867228"/>
            <a:ext cx="495300" cy="18000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9CC562-6931-4C31-A07C-83EF18FD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7625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Sat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209F96-DC00-4478-A793-779F3464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857500"/>
            <a:ext cx="4953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06CF45-3158-4CC4-A2BB-143BC2AF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4762500"/>
            <a:ext cx="590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0E450F-7780-4465-A681-F13FD1EB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4790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Evening activity by hour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C66490-80C3-4A53-B1FE-4C9B1954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21149"/>
            <a:ext cx="443593" cy="15461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C5BBA3-6D01-42BD-BDBE-8F3DBEF8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762500"/>
            <a:ext cx="53884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DEAAE2-433F-470B-827D-FBD6CDA3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6343" y="3112912"/>
            <a:ext cx="443593" cy="1554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33FE03-0258-4FF1-9404-C853686B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8718" y="4762500"/>
            <a:ext cx="53884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CF3CAE-C387-4E12-B0F9-DD616E5A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3286" y="2974873"/>
            <a:ext cx="443593" cy="16923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AC585B-934C-44F7-B4DE-AECC0EB7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661" y="4762500"/>
            <a:ext cx="53884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919988-47A8-4D7D-99E3-97048F98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0229" y="2857500"/>
            <a:ext cx="443593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A3BB6D-25F9-409B-AF13-F3A5E759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604" y="4762500"/>
            <a:ext cx="53884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A1C8FD-EDCC-4082-B7A0-F7E917E6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7171" y="2930814"/>
            <a:ext cx="443593" cy="17364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22517D-D3B4-452E-B8A0-30F3BC67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9546" y="4762500"/>
            <a:ext cx="53884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023834-1262-456E-A306-0903B335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4114" y="3001548"/>
            <a:ext cx="443593" cy="16657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051B65-7EBA-4DF7-BFA1-5AA067DA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6489" y="4762500"/>
            <a:ext cx="53884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17F40B0-E9E5-4021-A181-00F9845D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1057" y="3064515"/>
            <a:ext cx="443593" cy="16027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787FD6-1C6E-408E-9918-1EF15A11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3432" y="4762500"/>
            <a:ext cx="53884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43B13C-5094-44CC-B36D-62612E4C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970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1430">
            <a:solidFill>
              <a:srgbClr val="0F766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FBB4ED-C781-42ED-926E-0BAFD4AE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97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3DC9BA-8CEF-41D5-A78C-26399DA2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353050"/>
            <a:ext cx="695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Result: Sunday has the highest listening volume, and 18:00 is the most active hour in the sample.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1DC232-0048-4C4B-8966-965466C3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Big Data Analytics Mini Project | Last.fm 1K | PySpark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2310A2-3E33-4719-852D-6EB7BEB0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718223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82BF4D-A80B-4CE6-BB6D-7A3E3376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-7">
            <a:extLst xmlns:a="http://schemas.openxmlformats.org/drawingml/2006/main">
              <a:ext uri="{FF2B5EF4-FFF2-40B4-BE49-F238E27FC236}">
                <a16:creationId xmlns:a16="http://schemas.microsoft.com/office/drawing/2014/main" id="{36932361-BE09-4442-B3B6-1444F939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-7">
            <a:extLst xmlns:a="http://schemas.openxmlformats.org/drawingml/2006/main">
              <a:ext uri="{FF2B5EF4-FFF2-40B4-BE49-F238E27FC236}">
                <a16:creationId xmlns:a16="http://schemas.microsoft.com/office/drawing/2014/main" id="{05A20CB9-4851-48AB-8E42-65B8F868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PART 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734B2-95F5-4428-ADFF-6357AB8A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23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User Segmentation With KMeans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63B70-1F4A-4C1A-8FBA-9A8F27ED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Spark ML groups listeners using volume, diversity, repeat behavior, and time-based features.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7A083-F7CC-44CA-AF0F-AB54D911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35C66-6462-4401-A05D-2AFD1798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800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Segment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56160B-CC61-49D6-B321-EBBE21F4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76500"/>
            <a:ext cx="857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75C836-5EC8-4788-A58A-07BC6F75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533650"/>
            <a:ext cx="704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BA68EB-BE5B-436C-8F5D-B87DCF24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47650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DCE616-2546-4E31-A68E-FA03BDE3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53365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Avg listens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767DB-C63F-436C-860D-A17881EC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47650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CA140A-6704-4D2E-B6C6-C1F7FE76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3365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Repeat rate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B60F2F-BC75-4CD4-BD6E-6CDAB6ED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47650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295793-0A40-43EF-8B90-3BC97A1D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533650"/>
            <a:ext cx="2133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Label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6EBC56-BB09-4CF7-A51D-FF11FCF5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0B5E83-00A9-4AA1-ABF9-BE53216D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48000"/>
            <a:ext cx="800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343441-125A-46DF-99E7-8F940581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990850"/>
            <a:ext cx="857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DF3006-B6B5-40ED-98C3-8575924D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048000"/>
            <a:ext cx="704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336A61-0DCF-461E-B143-120316A5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908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33DCC6-DBF5-4B0E-9F63-02DB4D2E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480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56,323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BCE142-37FA-46FB-9FC1-EBF56748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9908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4C1BCB-F423-4B73-957F-089E85EA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0480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0.8273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61F4CA-1D69-405B-B713-61CCCD97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9085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984E64-4A69-410A-A37A-2942C72B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48000"/>
            <a:ext cx="2133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Heavy listeners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CA273D-2341-41CA-A288-BD2C4F68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FFBE64-5D88-4F29-B244-8E04CE0D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800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89CC2D-D09A-42D5-849F-7E297680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857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EE5088-CAEB-41F6-9B2D-984818D6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2350"/>
            <a:ext cx="704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0BA5B9-1ABE-469B-A58F-8985A8FE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0520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FCCDA9-537A-46FB-AD25-818E6739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56235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13,596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432BB4-53B5-4595-BF5D-333F50E2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0520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364CE4-447C-4904-B149-A292CEA6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6235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0.6861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560862-76F9-49B7-9E80-2FF8B1B8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0520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C98B62-B66F-4138-B1DD-E65B6022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62350"/>
            <a:ext cx="2133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Balanced listeners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89B906-56F4-442F-8E00-3391A564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3492DF-B9E9-4408-B02F-3E8EC1DD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800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FF20C1-9553-4FFE-AB58-6B42979B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19550"/>
            <a:ext cx="857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99A88E-8068-4CBE-AC14-3838DEB7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76700"/>
            <a:ext cx="704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7DEC10B-F37B-4FF1-AD63-23F0F227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195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5AA2FD-507B-4177-B46D-D4AD2277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767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28,098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CF25648-325E-4567-8673-363605EB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195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AD70450-1B36-4806-9627-E57AD9B61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767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0.5590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3FC335-0B72-4DE4-BF91-922AE08B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1955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C51940-83E3-40C0-B582-CC858851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076700"/>
            <a:ext cx="2133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Music explorers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AE5BF2-5345-4858-AEBA-702D2B61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003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Feature set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D561C59-B8FC-45FC-9623-ADF1BF7B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765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534D6F3-D948-4DF4-AB54-8426429B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194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total listens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FC0C188-9922-4FBF-9A56-1183F71A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43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ACA4CBD-24DF-4E60-A90E-ADEC3B47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861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unique artists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04DC96-0FB7-494A-A2A9-9DC65035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09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7D95E7-84FE-42BA-9901-88311424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528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unique tracks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2310CAE-FA97-4D87-9618-13E65888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76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24E81B3-640B-409C-9712-D5BCA8E8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195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active days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71AD51D-5188-4063-8243-637814CA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43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C2DECD6-C8C4-4630-829E-336F098E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862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avg listens / day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095DD62-1911-493F-8BFC-29E223C6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FDF33CE-F99B-40A1-B9C7-82295C89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529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artist diversity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45DE1C0-B0B8-4579-832D-90769231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76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54F18D0-3827-4A51-8ABA-9747637D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19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repeat rate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B733B6F-1271-46A6-A579-7B48E00A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43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FACDCF7-6726-43A1-9EAE-5AFF7352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863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night share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25DCD81-1231-4DA8-9FD6-258B0A97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10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4FFA6CF-A4C4-4DF9-81DD-5DEC514C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9530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weekend share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29E6C84-160B-41E2-9761-FCC716F5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353050"/>
            <a:ext cx="885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1430">
            <a:solidFill>
              <a:srgbClr val="6D28D9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9D9F972-B64B-4006-B43D-C394CD8E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353050"/>
            <a:ext cx="47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E56264A-BB9E-4EF2-A20D-8F7FB730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86400"/>
            <a:ext cx="857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Output: the users are grouped into heavy listeners, balanced listeners, and music explorers.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C8B8E14-7FE3-46D8-8E9D-C4CB6595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Big Data Analytics Mini Project | Last.fm 1K | PySpark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E44F8E4-2E93-4D5A-BE88-F5BA2C4B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8061618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047C28-43CF-4AC1-95AE-2505C9D2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-8">
            <a:extLst xmlns:a="http://schemas.openxmlformats.org/drawingml/2006/main">
              <a:ext uri="{FF2B5EF4-FFF2-40B4-BE49-F238E27FC236}">
                <a16:creationId xmlns:a16="http://schemas.microsoft.com/office/drawing/2014/main" id="{53A81C4D-A817-4A19-BB7D-A773E402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-8">
            <a:extLst xmlns:a="http://schemas.openxmlformats.org/drawingml/2006/main">
              <a:ext uri="{FF2B5EF4-FFF2-40B4-BE49-F238E27FC236}">
                <a16:creationId xmlns:a16="http://schemas.microsoft.com/office/drawing/2014/main" id="{557A4684-4F66-45D1-9252-E81524FF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PART 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086DCB-6DD1-47C7-BA2C-D37FE188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23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Recommendation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1C2C5-8B49-447A-9C1E-119696E8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Spark MLlib ALS uses listening counts as implicit feedback to produce ranked song recommendations.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F3CF9-7F84-4D38-8190-4A97B407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2095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BCABB-7266-45A0-8176-C78CA79F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4320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Listening events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AF31DB-FC63-49F7-B7CC-6E4FCAF1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Raw user, artist, track, timestamp rows.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F380E2-91F7-43FC-A1CD-ECBE08A8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7175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1C60ED-9F3E-40A7-9B74-1F99141B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43200"/>
            <a:ext cx="1943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Play counts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4B6DC-DC8B-48A1-84F9-690996FE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1943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Group by user and track, then log-scale preference.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9BE4B1-A3AE-4E95-B5F1-20E09831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71750"/>
            <a:ext cx="2190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E123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BBEEC7-0E3F-45F7-8370-0CAFAD32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32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E123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E123C"/>
                </a:solidFill>
                <a:latin typeface="Aptos"/>
                <a:ea typeface="Aptos"/>
                <a:cs typeface="Aptos"/>
              </a:rPr>
              <a:t>ALS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AC022-3E9B-417C-9EC2-A7CDD1E2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Spark MLlib collaborative filtering with implicitPrefs=True.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7ED287-C9FC-43F5-B315-2B045A37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571750"/>
            <a:ext cx="2190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9770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68644F-B8BC-4834-9D35-C6876ACA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4320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Top-10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9C35AA-9FF0-4565-B809-252DB79B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Exclude known songs and rank unseen candidates.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2DF63E-0FD3-4A5D-A65F-C0F95284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09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B676EC-D33C-4426-825D-AABAB5B8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009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8005B6-7F60-4E14-8EA7-FFBBF4A3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09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2A80B6-B0F7-4BA5-8991-A488BA61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196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8599FE-3222-4220-8F4B-DEE5BED2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72000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84,633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C10A6C-6436-4516-9D20-5CAC38AF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14900"/>
            <a:ext cx="140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model interactions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4D8DB5-17E2-4BC1-85FB-666FC54E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196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7549E6-D109-4BBA-BC71-133FC794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572000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E123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BE123C"/>
                </a:solidFill>
                <a:latin typeface="Aptos"/>
                <a:ea typeface="Aptos"/>
                <a:cs typeface="Aptos"/>
              </a:rPr>
              <a:t>1.3045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C96C76-1DC3-4DF0-B7BF-047D34EA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914900"/>
            <a:ext cx="140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RMSE diagnostic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B267BF-8315-4A65-9137-66CF0884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196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2A5CA7-2239-495F-B916-4BFCB784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72000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0.0244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DFF45F-4B00-4238-9F72-C0A461B5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914900"/>
            <a:ext cx="140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Precision@10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D4820B-0FEE-40A1-8EA8-86B6764B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196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25C995-5AC5-463C-98DC-65273549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72000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0.1220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2B2A36-1074-40C0-A763-390AD537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914900"/>
            <a:ext cx="140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Hit Rate@10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180E3C-0100-45EC-9DD1-EC76CBCB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Big Data Analytics Mini Project | Last.fm 1K | PySpark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551797-A2A3-4983-B3E2-A7712FEE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03511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AAB8CF-4051-4FA9-9D9B-3D622023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-9">
            <a:extLst xmlns:a="http://schemas.openxmlformats.org/drawingml/2006/main">
              <a:ext uri="{FF2B5EF4-FFF2-40B4-BE49-F238E27FC236}">
                <a16:creationId xmlns:a16="http://schemas.microsoft.com/office/drawing/2014/main" id="{3025156A-1A40-40AB-9077-F1A86696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-9">
            <a:extLst xmlns:a="http://schemas.openxmlformats.org/drawingml/2006/main">
              <a:ext uri="{FF2B5EF4-FFF2-40B4-BE49-F238E27FC236}">
                <a16:creationId xmlns:a16="http://schemas.microsoft.com/office/drawing/2014/main" id="{017F325F-FFCC-42D4-BA70-F2657C97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PART 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E0221-C528-43B6-8740-01B8195AD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23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Recommendation Output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C58F9C-4FF0-4E51-8EA8-CF7C73EF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The model scores candidate tracks and removes songs already listened to by the selected user.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9926A0-A698-4615-9D36-868BAED5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03BDE-AC86-497F-95B2-40F18458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514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F715E9-D96E-4577-BAC2-7BAC3642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36220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91862-2C79-4B1E-836D-8F3FAD3E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1935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Recommended track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762256-8818-41D5-8A66-179AB4F1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622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E00B0B-B55E-4671-B5FF-03AAACEA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193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Artist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7F082-D30A-4141-8592-30B15703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6220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4E6CD-8643-4B37-80A0-D283322D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80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0A303F-ECDF-49E9-AE6A-E01D1FC0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810E1A-D373-4396-AE80-C7985157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514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B7DD3-3685-4023-920A-E0D395C1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8130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6968BE-8A23-4663-9032-FC820743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3845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Stand Up Guy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3242AA-DBB9-47A8-8ED0-AEE6F80E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81336E-CBA0-4500-A4D7-C33EE984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384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T.I.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8DCEE4-A3C9-4E27-942A-22947D7F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3D64CC-1B1C-43C3-9CF4-CB8D6DDB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38450"/>
            <a:ext cx="80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1.6746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53F740-14B6-4C78-97EC-94DBCD17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AEA879-C94C-45CC-BAB5-1EF4D992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514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6CCAFE-8AEA-4815-8CB5-B6E16421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20040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539F9D-C07D-4BF4-A250-251C5BDE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5755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Cream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841879-4BEB-461E-9DF8-7B186425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04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8956FE-A236-4A2A-B6A2-41F0E93A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575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Prince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DEBD73-46E4-4FC8-A8F6-FBE3DD69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0040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2882F8-B770-42C4-BF1C-E619D723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80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1.4785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CFCC44-F4EF-4295-BE64-5919E3D0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07DF7A-8A72-45FC-9B83-3D8DCDD8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76650"/>
            <a:ext cx="514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5A1FF6-6373-49C2-ACE4-B1C88642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61950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9F0489-EB6F-4D76-B34B-9B5D0062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7665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 And Those Dreamin' Eyes Of Mine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57E069-02CA-4257-8B94-C297B8C6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195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2FFE2A-25A0-4F01-820A-34D31BBC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766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D'Angelo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9CAECE-3440-487C-BBF9-B76452C5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1950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4A4A6F-BB35-4E40-B90D-DCDCA62B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76650"/>
            <a:ext cx="80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1.4744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24C47D-8AD5-4E07-8BB9-2548E68C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2DC48A-6BEA-4BBD-A185-28A7E13A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514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8BD844-69F8-4D83-89E5-23C38AB9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3860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D72E7A-F078-43A0-9CD4-30F119EA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Rain On Me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D83EF7-D247-41AB-93F6-0C8DACB1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386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801CAC-CC07-4F51-9191-EF81FE22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957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Ashanti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DB95650-456D-4631-87FB-1A179C00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3860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FBE46AA-8738-48AA-AD6C-BCC4C748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80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1.4671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98BDA0-E669-4C8E-9F0A-304A100E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515A675-9999-4D27-A88A-2374A145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14850"/>
            <a:ext cx="514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92F3797-B786-4606-A8E7-5006A21F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3673E5-8804-4CD0-BDD2-83AD9151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1485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Kingdom Of Doom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B4A73E-D459-4EB7-9AFA-3C119A3A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4577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536CC63-5DF4-43A0-AD37-A1983049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148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Good, The Bad &amp; The Queen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2F9D238-F6AC-45CB-85B1-0C750528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5770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3E3FB6C-F26C-4F21-BF00-8A4578DB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14850"/>
            <a:ext cx="80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1.4627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3C2945D-C694-4DF5-8A35-8E70735C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ED36F1D-9BF3-4D47-BE66-68F45020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514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EC94EF6-56D2-4B32-9D24-C6817685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7680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FEE2399-3633-4414-8B96-CC087BF0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3395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Sweet Sweet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5D1F41E-2C1C-4079-8B1E-1B268E6D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8768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C8071E5-C30E-49E7-A618-DAD0C2BB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339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Smashing Pumpkins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C2305D1-4F96-4B16-B0D4-A922F692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76800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4605D17-6910-477A-B0F1-4BBF0B20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33950"/>
            <a:ext cx="80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1.4592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4255CD1-7C82-44EB-90C1-182249FF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86400"/>
            <a:ext cx="8763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1430">
            <a:solidFill>
              <a:srgbClr val="BE123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A8C1BB1-8C1B-44E4-BA13-AF2B9F98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8640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9D01B8C-5D45-4AFA-BCE2-4393B110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619750"/>
            <a:ext cx="8477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Selected user: user_000031. The notebook generates top recommendations that can be shown during the demo.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3E335ED-86FF-4109-80DA-A2267963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Big Data Analytics Mini Project | Last.fm 1K | PySpark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4C88E37-5C79-4B06-B613-57C365BF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5685005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0D7ACF-7747-4DA3-BA3D-6F03E1C1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-10">
            <a:extLst xmlns:a="http://schemas.openxmlformats.org/drawingml/2006/main">
              <a:ext uri="{FF2B5EF4-FFF2-40B4-BE49-F238E27FC236}">
                <a16:creationId xmlns:a16="http://schemas.microsoft.com/office/drawing/2014/main" id="{94C45B3E-7E7E-4AA3-971E-65F585CD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22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-10">
            <a:extLst xmlns:a="http://schemas.openxmlformats.org/drawingml/2006/main">
              <a:ext uri="{FF2B5EF4-FFF2-40B4-BE49-F238E27FC236}">
                <a16:creationId xmlns:a16="http://schemas.microsoft.com/office/drawing/2014/main" id="{9697FD7E-8C74-4C49-AA20-459EE472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00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A8DF29-5AAB-469C-8604-FF7F13F7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23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Files Prepared for Submission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E56A48-B74A-43E3-9978-F8ED04AC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The project demonstrates big data analytics and a recommendation system using PySpark.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6E7299-4342-4616-92F7-5641A8F7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C65B66-72A4-445B-9F69-3ADADFDA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8400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8C1C8-A27C-4822-9FC0-0404F819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81250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33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389C2-FA2B-43C7-99CB-CB697356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38400"/>
            <a:ext cx="670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File /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41D468-C78B-446E-8B69-3010C2C7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3845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59AACE-F747-4F66-BD41-1BFA1331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Part A notebook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F62D7D-4B3B-432C-860F-57CC9F4C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38450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6F7A15-984A-402B-8848-7DB90F55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95600"/>
            <a:ext cx="670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Music_Listening_Analytics_Bonus_PartA_PySpark.ipynb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8AED62-077C-44AF-B04C-3BF5BE45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F084E7-124E-4403-B668-4379F53C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Part B notebook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475014-6172-48BF-B87B-D6CFC81F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95650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7C40C3-9EF1-43EF-9669-57C8A73F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52800"/>
            <a:ext cx="670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Music_Recommendation_PySpark.ipynb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8563BD-475C-446B-B2E6-3F8BC8E5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6CAC54-CF6A-435E-9DAE-2CDA41403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0000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Dataset link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BAE29A-1958-4982-A2D6-D0B6D2AF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52850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0324B6-C320-4219-A39B-4B942B9C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10000"/>
            <a:ext cx="670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Last.fm Dataset - 1K 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79D737-6FA5-422A-B98D-1861365C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67A9F8-599A-4B4A-AF09-A5EBF58E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Outputs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BDBB2B-96F2-4724-934A-42EE6DB4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10050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196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8B1971-7919-464E-AA5F-4D3E8354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267200"/>
            <a:ext cx="670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CSV summaries, segments, metrics, and recommendations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6C1479-8A42-4DCB-9173-6481A58E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281929-47A5-4F5C-8FD5-802FB439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24400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Guide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968E50-C146-4DB4-A43F-6A8AFCED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67250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0000"/>
            </a:srgbClr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2A0D32-9B17-49D9-94DE-E724CF02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24400"/>
            <a:ext cx="670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README.md and BONUS_SUBMISSION_GUIDE.md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7A9C28-8616-4244-A03E-F796D850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372100"/>
            <a:ext cx="8115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11430">
            <a:solidFill>
              <a:srgbClr val="D9770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5A0425-250D-4190-A722-EBE69BAC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3721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02907E-A4C8-4532-A197-3BCF846B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05450"/>
            <a:ext cx="7829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Demo flow: open Jupyter, run Part A analytics and clustering cells, then run Part B ALS training and recommendation output cells.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6E5E4A-27FF-4902-97C3-D9D7C2A5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Big Data Analytics Mini Project | Last.fm 1K | PySpark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7BBA48-BCC4-4A56-8401-B287135D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556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359244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2026-05-16T16:53:05.3600000Z</dcterms:created>
  <dcterms:modified xsi:type="dcterms:W3CDTF">2026-05-16T16:53:05.3600000Z</dcterms:modified>
</coreProperties>
</file>