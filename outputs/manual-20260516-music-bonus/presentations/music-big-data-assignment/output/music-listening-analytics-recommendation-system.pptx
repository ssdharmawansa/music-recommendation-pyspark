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6c29200d3e416c" /><Relationship Type="http://schemas.openxmlformats.org/officeDocument/2006/relationships/extended-properties" Target="/docProps/app.xml" Id="R7ec0d1f592354f52" /><Relationship Type="http://schemas.openxmlformats.org/officeDocument/2006/relationships/officeDocument" Target="/ppt/presentation.xml" Id="R9b5f151b90c84b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520d1753804389"/>
  </p:sldMasterIdLst>
  <p:notesMasterIdLst>
    <p:notesMasterId xmlns:r="http://schemas.openxmlformats.org/officeDocument/2006/relationships" r:id="R5877526d0adc4727"/>
  </p:notesMasterIdLst>
  <p:sldIdLst>
    <p:sldId xmlns:r="http://schemas.openxmlformats.org/officeDocument/2006/relationships" id="256" r:id="Rfa0a767e56084f4b"/>
    <p:sldId xmlns:r="http://schemas.openxmlformats.org/officeDocument/2006/relationships" id="257" r:id="R28668971bd304725"/>
    <p:sldId xmlns:r="http://schemas.openxmlformats.org/officeDocument/2006/relationships" id="258" r:id="R971455b8a93542b9"/>
    <p:sldId xmlns:r="http://schemas.openxmlformats.org/officeDocument/2006/relationships" id="259" r:id="R3742b738c33c4c25"/>
    <p:sldId xmlns:r="http://schemas.openxmlformats.org/officeDocument/2006/relationships" id="260" r:id="R371f279a313d492e"/>
    <p:sldId xmlns:r="http://schemas.openxmlformats.org/officeDocument/2006/relationships" id="261" r:id="R7a7331d102414d15"/>
    <p:sldId xmlns:r="http://schemas.openxmlformats.org/officeDocument/2006/relationships" id="262" r:id="R3ad3251fe9ec4979"/>
    <p:sldId xmlns:r="http://schemas.openxmlformats.org/officeDocument/2006/relationships" id="263" r:id="Rced200f17b504794"/>
    <p:sldId xmlns:r="http://schemas.openxmlformats.org/officeDocument/2006/relationships" id="264" r:id="R1a62bab3511f4080"/>
    <p:sldId xmlns:r="http://schemas.openxmlformats.org/officeDocument/2006/relationships" id="265" r:id="R07d03b5b405e465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520d1753804389" /><Relationship Type="http://schemas.openxmlformats.org/officeDocument/2006/relationships/theme" Target="/ppt/theme/theme1.xml" Id="Rc4e8f6ce0f2f4484" /><Relationship Type="http://schemas.openxmlformats.org/officeDocument/2006/relationships/notesMaster" Target="/ppt/notesMasters/notesMaster1.xml" Id="R5877526d0adc4727" /><Relationship Type="http://schemas.openxmlformats.org/officeDocument/2006/relationships/presProps" Target="/ppt/presProps.xml" Id="Rd35d287819ea4182" /><Relationship Type="http://schemas.openxmlformats.org/officeDocument/2006/relationships/viewProps" Target="/ppt/viewProps.xml" Id="R6dee5748472d42c3" /><Relationship Type="http://schemas.openxmlformats.org/officeDocument/2006/relationships/tableStyles" Target="/ppt/tableStyles.xml" Id="Rcf39428313f940e7" /><Relationship Type="http://schemas.openxmlformats.org/officeDocument/2006/relationships/slide" Target="/ppt/slides/slide1.xml" Id="Rfa0a767e56084f4b" /><Relationship Type="http://schemas.openxmlformats.org/officeDocument/2006/relationships/slide" Target="/ppt/slides/slide2.xml" Id="R28668971bd304725" /><Relationship Type="http://schemas.openxmlformats.org/officeDocument/2006/relationships/slide" Target="/ppt/slides/slide3.xml" Id="R971455b8a93542b9" /><Relationship Type="http://schemas.openxmlformats.org/officeDocument/2006/relationships/slide" Target="/ppt/slides/slide4.xml" Id="R3742b738c33c4c25" /><Relationship Type="http://schemas.openxmlformats.org/officeDocument/2006/relationships/slide" Target="/ppt/slides/slide5.xml" Id="R371f279a313d492e" /><Relationship Type="http://schemas.openxmlformats.org/officeDocument/2006/relationships/slide" Target="/ppt/slides/slide6.xml" Id="R7a7331d102414d15" /><Relationship Type="http://schemas.openxmlformats.org/officeDocument/2006/relationships/slide" Target="/ppt/slides/slide7.xml" Id="R3ad3251fe9ec4979" /><Relationship Type="http://schemas.openxmlformats.org/officeDocument/2006/relationships/slide" Target="/ppt/slides/slide8.xml" Id="Rced200f17b504794" /><Relationship Type="http://schemas.openxmlformats.org/officeDocument/2006/relationships/slide" Target="/ppt/slides/slide9.xml" Id="R1a62bab3511f4080" /><Relationship Type="http://schemas.openxmlformats.org/officeDocument/2006/relationships/slide" Target="/ppt/slides/slide10.xml" Id="R07d03b5b405e46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871b95972744d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1e2cf6e7b944c4" /><Relationship Type="http://schemas.openxmlformats.org/officeDocument/2006/relationships/notesMaster" Target="/ppt/notesMasters/notesMaster1.xml" Id="R9de634d17c4646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4fdf0764c64836" /><Relationship Type="http://schemas.openxmlformats.org/officeDocument/2006/relationships/notesMaster" Target="/ppt/notesMasters/notesMaster1.xml" Id="R914c28dbe49942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dd9cbff1cd4c4e" /><Relationship Type="http://schemas.openxmlformats.org/officeDocument/2006/relationships/notesMaster" Target="/ppt/notesMasters/notesMaster1.xml" Id="R33c5df7b024a43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abf538c9e74d49" /><Relationship Type="http://schemas.openxmlformats.org/officeDocument/2006/relationships/notesMaster" Target="/ppt/notesMasters/notesMaster1.xml" Id="Rd2504c59afd449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c14ae341f74452" /><Relationship Type="http://schemas.openxmlformats.org/officeDocument/2006/relationships/notesMaster" Target="/ppt/notesMasters/notesMaster1.xml" Id="Rdd998802a72246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6351a2430c4445" /><Relationship Type="http://schemas.openxmlformats.org/officeDocument/2006/relationships/notesMaster" Target="/ppt/notesMasters/notesMaster1.xml" Id="R31fc227d319449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03666717ad421a" /><Relationship Type="http://schemas.openxmlformats.org/officeDocument/2006/relationships/notesMaster" Target="/ppt/notesMasters/notesMaster1.xml" Id="R6363dccd97774c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9555fb90ad45a8" /><Relationship Type="http://schemas.openxmlformats.org/officeDocument/2006/relationships/notesMaster" Target="/ppt/notesMasters/notesMaster1.xml" Id="Rc1bfcee96f7343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063997d68c4036" /><Relationship Type="http://schemas.openxmlformats.org/officeDocument/2006/relationships/notesMaster" Target="/ppt/notesMasters/notesMaster1.xml" Id="R559a76f6cbe842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e290bde81f4ec8" /><Relationship Type="http://schemas.openxmlformats.org/officeDocument/2006/relationships/notesMaster" Target="/ppt/notesMasters/notesMaster1.xml" Id="R7093c408ae184d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2a046b3379476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3a7bfcc1671458f" /><Relationship Type="http://schemas.openxmlformats.org/officeDocument/2006/relationships/slideLayout" Target="/ppt/slideLayouts/slideLayout2.xml" Id="R12162f99fd7a41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162f99fd7a41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bfdabe1fc14532" /><Relationship Type="http://schemas.openxmlformats.org/officeDocument/2006/relationships/notesSlide" Target="/ppt/notesSlides/notesSlide1.xml" Id="Rddfc6ed3a49842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9721d2e1fb41ad" /><Relationship Type="http://schemas.openxmlformats.org/officeDocument/2006/relationships/notesSlide" Target="/ppt/notesSlides/notesSlide2.xml" Id="Rbae896d600db42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edeb5fd95041a0" /><Relationship Type="http://schemas.openxmlformats.org/officeDocument/2006/relationships/notesSlide" Target="/ppt/notesSlides/notesSlide3.xml" Id="R09a3489e90194c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0c22ffda7e4429" /><Relationship Type="http://schemas.openxmlformats.org/officeDocument/2006/relationships/notesSlide" Target="/ppt/notesSlides/notesSlide4.xml" Id="R1af2bacb216b46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e5646614e84c77" /><Relationship Type="http://schemas.openxmlformats.org/officeDocument/2006/relationships/notesSlide" Target="/ppt/notesSlides/notesSlide5.xml" Id="R6a883ca525484f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55d8153a9a4fcc" /><Relationship Type="http://schemas.openxmlformats.org/officeDocument/2006/relationships/notesSlide" Target="/ppt/notesSlides/notesSlide6.xml" Id="R3fe155632d3b43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f57e43a6274c57" /><Relationship Type="http://schemas.openxmlformats.org/officeDocument/2006/relationships/notesSlide" Target="/ppt/notesSlides/notesSlide7.xml" Id="R80f3832927e04f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8d19dc092d4e19" /><Relationship Type="http://schemas.openxmlformats.org/officeDocument/2006/relationships/notesSlide" Target="/ppt/notesSlides/notesSlide8.xml" Id="R8d219363bf7341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1a407206724468" /><Relationship Type="http://schemas.openxmlformats.org/officeDocument/2006/relationships/notesSlide" Target="/ppt/notesSlides/notesSlide9.xml" Id="R78cc3a5624a84d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e0afe72b7f4927" /><Relationship Type="http://schemas.openxmlformats.org/officeDocument/2006/relationships/notesSlide" Target="/ppt/notesSlides/notesSlide10.xml" Id="R1347451b43f3496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3892BC-2DE4-4BB2-A3CE-F9CA3E49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1">
            <a:extLst xmlns:a="http://schemas.openxmlformats.org/drawingml/2006/main">
              <a:ext uri="{FF2B5EF4-FFF2-40B4-BE49-F238E27FC236}">
                <a16:creationId xmlns:a16="http://schemas.microsoft.com/office/drawing/2014/main" id="{DB836381-B9D8-4E20-BD62-0DEDD861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1">
            <a:extLst xmlns:a="http://schemas.openxmlformats.org/drawingml/2006/main">
              <a:ext uri="{FF2B5EF4-FFF2-40B4-BE49-F238E27FC236}">
                <a16:creationId xmlns:a16="http://schemas.microsoft.com/office/drawing/2014/main" id="{745D5027-EDE2-4855-B499-5C5B2FD2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MINI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8E5D3-6014-4B83-9C8A-1697EDC8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57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Music Listening Analytics and Recommendation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C428D-82E6-4575-9CCF-766CC09C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590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Bonus-ready PySpark project using the Last.fm 1K listening-history dataset.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A9710-6EFA-48C3-924B-159FA26A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6667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82D95-5103-401C-BB68-DE3AAD12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609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Part A: Spark analytics and listener segmentation</a:t>
            </a:r>
          </a:p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Part B: ALS collaborative filtering music recommendations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D9A04-3A5C-49DF-9237-862D8448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8110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9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918A5B-91BD-4CBD-B7D7-3BF0596B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3350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1.0M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3EB02-7A52-4F2F-B0CF-716F4560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764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listening events used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C27E7-1978-422A-B2AE-67451FC8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8110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9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9EAC8-716E-45B1-BD34-0FA391BE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33350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23,007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47BBB-4E7E-4273-81B7-A3BAF7A5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764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unique artists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941A6E-8C10-4FEE-8D1D-E157BC37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9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BD97F-2EC1-466F-8E07-8D4F191B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159,093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8073E-65A4-46C6-A2ED-81D0E58A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03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unique tracks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912D3F-BFDD-4970-B3F3-54D0FE84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050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9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56FE96-8DC7-4A26-8433-8A914D2D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5745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6F3902-6D36-41BB-A4AA-E82E1A48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003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Spark ML models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327E47-4924-49B9-AD5C-F59A63B5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Dataset source: Last.fm Dataset - 1K users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28F985-8BD6-4D3A-BC92-CE93CD3D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Big Data Analytics Mini Project | Last.fm 1K | PySpark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FE7AB8-2412-474E-BFCD-1C2DFA99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916683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D0FE5A-48C7-4A2F-B3F2-28088B5D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2">
            <a:extLst xmlns:a="http://schemas.openxmlformats.org/drawingml/2006/main">
              <a:ext uri="{FF2B5EF4-FFF2-40B4-BE49-F238E27FC236}">
                <a16:creationId xmlns:a16="http://schemas.microsoft.com/office/drawing/2014/main" id="{D48F1669-E259-43DA-ADB4-4E66F1F1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2">
            <a:extLst xmlns:a="http://schemas.openxmlformats.org/drawingml/2006/main">
              <a:ext uri="{FF2B5EF4-FFF2-40B4-BE49-F238E27FC236}">
                <a16:creationId xmlns:a16="http://schemas.microsoft.com/office/drawing/2014/main" id="{C89B3506-39DC-4FEF-8D90-0330CD37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ASSIGNMENT 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616D6-E899-4FA7-B198-9990C5A0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project now covers both paths in the marking guide.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45186-67EE-4222-BFBA-B6674292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Two notebooks use the same dataset but answer different big data questions.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02E17-893E-40AD-99AD-935CB574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4381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C2AB1-0675-4C3C-B773-708F77FE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098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Part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05A28-71F3-4113-B5C1-247D6678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146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Big Data Analytics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A5F9B-4166-48EC-BE7A-B3CDCF2E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Spark aggregations, temporal patterns, country analysis, and KMeans listener segmentation.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9840C-1CC0-4D17-8E06-459A30AD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33625"/>
            <a:ext cx="4381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CC629-7843-42F6-817F-B992910C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098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Part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1474F-E257-4F8B-9EBD-7AD0FD17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146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Recommendation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ACB37-D987-4A89-8704-B8F35F03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814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Spark MLlib ALS on implicit feedback, model evaluation, and top-10 song recommendations.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529361-F8ED-4180-B887-900649A4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90875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E25DDA-21F1-4A42-BE74-9FFE49CB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765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BONUS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6AC716-6CD4-47DA-8A2A-E61E594B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29200"/>
            <a:ext cx="7886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EF2916-4FF1-40A9-9BD4-DA2B7D1E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2920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9EF92D-94D8-4C96-9827-E039DC7B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62550"/>
            <a:ext cx="7600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Submission package includes two executed notebooks, README, generated CSV outputs, and this 10-slide presentation.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06D41E-385C-40B3-82BA-A5013BA9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76800"/>
            <a:ext cx="114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D32A97-FE6B-4CA8-B451-BEB70DF2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029200"/>
            <a:ext cx="838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90DABD-9309-482F-BD95-4CF871A3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3721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notebooks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83EA94-EB02-40A7-A2E8-5DCAA3F7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Big Data Analytics Mini Project | Last.fm 1K | PySpark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7D3860-B733-48AA-A505-014073BE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393574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D3172F-53D1-4910-9C6C-B6939A16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3">
            <a:extLst xmlns:a="http://schemas.openxmlformats.org/drawingml/2006/main">
              <a:ext uri="{FF2B5EF4-FFF2-40B4-BE49-F238E27FC236}">
                <a16:creationId xmlns:a16="http://schemas.microsoft.com/office/drawing/2014/main" id="{62C46569-8924-4452-80F5-6EEED5C2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3">
            <a:extLst xmlns:a="http://schemas.openxmlformats.org/drawingml/2006/main">
              <a:ext uri="{FF2B5EF4-FFF2-40B4-BE49-F238E27FC236}">
                <a16:creationId xmlns:a16="http://schemas.microsoft.com/office/drawing/2014/main" id="{9A2FE4D5-D2E3-439D-A446-1F04CDC2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5D493-FB78-460D-817D-3D5121F1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One Spark pipeline feeds two assignment outcomes.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3ABC1-8A79-4622-8A72-17516E09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system reads raw Last.fm events, cleans them once, then branches into analytics and recommendation workflows.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99B6B-AA84-4087-B16D-63FBC08A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238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C93CF-E337-4FDD-8DE5-BE69B1E9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16278-DF68-45FD-9C39-C14FBBD5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1895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Raw Last.fm files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A9E61-6A22-40FA-8E8B-13BA5F5F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18764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Listening TSV plus user profile TSV from downloaded dataset folder.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599AA-02B9-462E-8B83-0A3F3AA9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81325"/>
            <a:ext cx="904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1E21C-9E09-4569-A9E0-7B61E5CA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924175"/>
            <a:ext cx="133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2A488-AD53-48DC-9C7B-79D5EBC7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A369D-841A-4736-A7F2-37432B03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51BCA-27E0-42DD-BA43-7866FF57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6700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PySpark cleaning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44C4E0-39E3-4B75-B689-86323E4C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09900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Schema, timestamp parsing, track key fallback, profile join, and de-duplication.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432F86-0252-4CB7-9CD3-12F5EDA9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8132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26E339-3E28-45B5-A527-E5E6DF17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24175"/>
            <a:ext cx="133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1B0328-F63B-47E0-BFFC-802DA9CF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765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87B98-07EF-4CB4-8676-FE928A5B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765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7DB713-E6EC-44CF-AA89-5715F09A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6700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Feature engineering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7A3147-535E-4AFB-92FC-ACD444D7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09900"/>
            <a:ext cx="2305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Play counts, listening hour, day, diversity, repeat rate, and ALS indexes.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0A1EC7-68F6-4237-A8FF-94F29183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29050"/>
            <a:ext cx="38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DCED14-B7AC-4708-ACE1-4E120E8B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91050"/>
            <a:ext cx="388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A1D073-293A-40C9-BD77-D56ACC86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91050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69F424-01AF-4A75-A8A4-5051B708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91050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F99B60-512C-4E98-9FD0-39D2219C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2920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28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AB352A-0371-4211-9533-918100A1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292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2AA5A9-CB63-48AD-A3D8-39A62CAC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2197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Part A analytics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EEF67F-84B8-41C6-8B1E-263B8968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6260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EDA, temporal trends, country analysis, and KMeans user segments.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F8FA9D-D95B-4804-B3E4-B1815F11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2920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123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547F78-8F0F-4EAD-8D16-678498EB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292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AAD435-CFEB-40C9-99E2-5329E9AE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197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Part B recommender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175BA3-77E8-4718-8900-0117B28E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6260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ALS collaborative filtering and top-10 music recommendations.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EB35FF-3E70-4B09-B57A-2825327A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Big Data Analytics Mini Project | Last.fm 1K | PySpark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90FFBE-5AE5-4ADA-8482-17E401F5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122509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8A9DCB-5E97-4495-AB61-F3098598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4">
            <a:extLst xmlns:a="http://schemas.openxmlformats.org/drawingml/2006/main">
              <a:ext uri="{FF2B5EF4-FFF2-40B4-BE49-F238E27FC236}">
                <a16:creationId xmlns:a16="http://schemas.microsoft.com/office/drawing/2014/main" id="{EFA0B131-17EF-4B2B-A4E8-C8EF0F4F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4">
            <a:extLst xmlns:a="http://schemas.openxmlformats.org/drawingml/2006/main">
              <a:ext uri="{FF2B5EF4-FFF2-40B4-BE49-F238E27FC236}">
                <a16:creationId xmlns:a16="http://schemas.microsoft.com/office/drawing/2014/main" id="{2621AEB7-4B49-4E79-AF18-825DACDF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DATASET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FA37C-9FB0-42BA-A52C-2D0D1440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demo still processes a genuinely large music sample.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86B54-0DB6-4D34-9180-2E5CEB05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laptop-safe run uses 1,000,000 events; the full Last.fm file contains 19.15M listening events.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41C61-5D04-4453-89F6-D737EF85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200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F2122-EED7-47CF-A8B8-256CE2F9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1,000,000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E5863-CC3C-41E7-834F-D28197FB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events processed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28C81-04D1-4DC6-9D5F-3BF3038E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43150"/>
            <a:ext cx="1809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3BAAE-4CC4-4F36-B460-87428765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95550"/>
            <a:ext cx="150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4666A-6BAF-43D0-BA61-420F3EEE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38450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active users in sample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FB8D1-F267-4B38-85FA-54A250AB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43150"/>
            <a:ext cx="1809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88EB0-DEDF-489E-A655-9010C54A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95550"/>
            <a:ext cx="150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23,007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B6F0C-FA74-4F13-94D9-3465FF7E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38450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unique artists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82478-D55D-401E-8BFD-9BCFB00E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1952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9C760C-3717-4A01-B724-4D562AE3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95550"/>
            <a:ext cx="1647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159,093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6146C8-0592-4583-854F-22FDB9B1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38450"/>
            <a:ext cx="1647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unique tracks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E37522-9E39-4E60-AE47-9B1D3C32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43150"/>
            <a:ext cx="171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1F21F-1EF1-44D7-BB68-5218E150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9555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66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8AE717-AB7B-4493-9DAD-BB60F2DE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384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profile countries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F1BE3B-C8BA-4D84-B20C-08E2F757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Top profile countries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E4EA9D-4704-4F90-B91C-74922A9D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United States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383278-77D8-4BD0-9071-26895396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62450"/>
            <a:ext cx="3714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B49CAC-6A48-4CE5-9E3E-BDD1AE91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3387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228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CB1B98-1DE4-4B15-91DC-255EE6F0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United Kingdom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3EAD90-9BCE-4B46-AC4B-20E3C755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48200"/>
            <a:ext cx="205288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1CD217-C804-4A85-99F3-9FD5899F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5088" y="46196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0E75FF-FFAF-4FCE-A031-532D74A0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Poland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DB9CD1-038E-44CA-BEC3-96B3C3B1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33950"/>
            <a:ext cx="81463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5831AA-5C68-437B-9428-59D91B15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838" y="490537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13F40A-1D69-477A-92B1-6AD8AE5D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Germany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B16A3E-FC3B-47B1-9BB3-6A5C5F79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19700"/>
            <a:ext cx="58653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8B5D89-CE5F-467C-9FC6-DFB018F9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739" y="51911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EC2DCF-401A-4FEB-98D2-00EE1D3F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864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Norway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EAA33B-9821-48BE-94D6-05686B46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05450"/>
            <a:ext cx="57024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25EA12-F037-46CE-8751-0E899613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2447" y="547687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E14191-B3EC-4B6D-9A55-C80DD58F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Canada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BBBC32-9ECF-483B-B998-F732289F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791200"/>
            <a:ext cx="52136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653457-BF33-4211-A4BF-14D86F7C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568" y="57626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C52B0F-FE66-4919-B4A2-1C0D4D91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7195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this matters: the dataset is large enough to demonstrate Spark transformations, joins, aggregations, ML feature preparation, and model training beyond simple descriptive statistics.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EDC23E-C8F7-40B6-BBA8-FE89E361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576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77C4AF-BBBB-4769-80E0-D663A6E7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Big Data Analytics Mini Project | Last.fm 1K | PySpark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4E29B3-2CDF-4FD2-A40A-D76BA040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666790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65168E-10AE-4DEE-B8D3-B42F1685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5">
            <a:extLst xmlns:a="http://schemas.openxmlformats.org/drawingml/2006/main">
              <a:ext uri="{FF2B5EF4-FFF2-40B4-BE49-F238E27FC236}">
                <a16:creationId xmlns:a16="http://schemas.microsoft.com/office/drawing/2014/main" id="{F5F600BD-259D-4C2C-B0D5-C5753D7E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5">
            <a:extLst xmlns:a="http://schemas.openxmlformats.org/drawingml/2006/main">
              <a:ext uri="{FF2B5EF4-FFF2-40B4-BE49-F238E27FC236}">
                <a16:creationId xmlns:a16="http://schemas.microsoft.com/office/drawing/2014/main" id="{73809DDB-A078-45BB-A486-7CAE6A61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PART A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F76CA-09C0-48A4-8564-8B9EA73D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Listening activity is highly concentrated around a few artists.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1D0F9-D76A-4957-96AD-AB6FB241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Top artist and track counts reveal strong popularity concentration in the sampled listening events.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EA22F-8839-46FA-AC9E-108913E4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Kanye West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2A2A6-F66A-41A6-B75E-57891551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14600"/>
            <a:ext cx="3714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60F6D-77C6-41F4-BEB9-1A8882FB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860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27,267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770F5-F336-4AFF-974D-42CE2F99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Dir En Grey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A3F2C-9140-42B8-BE22-D93FC1D5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14650"/>
            <a:ext cx="163565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19668-5498-4F7F-80E0-F19F7429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751" y="288607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12,006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C621C-262B-43A6-9406-79DAEB14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Radiohead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B6DCD-9263-460C-99A5-1BA75202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14700"/>
            <a:ext cx="97504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060EF-2481-4CAE-919B-0EE6055F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9142" y="32861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7,157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4395F5-E789-4F52-B61A-31C7D945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Nine Inch Nails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7D160-CB94-4193-B000-51DAC794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714750"/>
            <a:ext cx="91428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C17ACB-5A43-4222-8421-1C121163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381" y="368617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6,711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EA54E5-58D2-4C6C-AABB-9E34D15E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F5BAD7-E2A7-4FAD-9CB0-94FF65AB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114800"/>
            <a:ext cx="82450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85E69C-32CC-429A-854B-18FC0A26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601" y="40862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6,052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9CD1DF-8B2B-41C4-AC94-1FF940CA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T.I.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EB1F10-E765-45BA-8306-42844AAD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514850"/>
            <a:ext cx="73485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F07865-A9E0-4CED-9347-D1ECFDF6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958" y="448627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5,394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BD486E-5F96-4A7E-8905-6E759FD1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765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CF8F74-0EB9-4CE0-9FEC-A51A0E29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33650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Top track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1F4313-CE30-4929-B09F-61275A66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FDA5B8-994F-43E6-9EC8-35919811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33650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Artist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B9B6F2-819D-4CDA-9DC9-48FD846D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C1F6AA-8195-4441-9712-4D1763D3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533650"/>
            <a:ext cx="704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261D61-67EB-49F8-9C23-FC832BC0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765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6AE90B-11D4-4247-8E73-FAAB5CA8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33700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See You In My Nightmares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CE58EC-DD1E-4D03-9416-456FDD24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765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CB39B0-1CFE-47FB-9037-2E24B5A5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33700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Kanye West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34C8D9-0127-4952-A038-150B0760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765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1E94FE-D29B-4A11-8E47-40356D2B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933700"/>
            <a:ext cx="704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2,069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864534-96F7-4BC5-BCFF-948AEEB2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4F12DA-2216-4291-8E48-6F8991FE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33750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Say You Will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1329ED-3C09-4A57-BC82-1BAE7918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766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77330D-536D-46E3-AD43-3F8371DB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33750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Kanye West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0604F6-5029-4C22-984E-FCB94181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766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E63024-50F4-4DFB-997B-5DEF1A00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333750"/>
            <a:ext cx="704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2,065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B10139-929B-4762-82FF-075F8786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766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C6724B-616F-4299-A740-7F88CBDB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33800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Heartless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CAC239-C9C4-4E3B-A108-0CEDF94F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766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84444B-2B53-416F-893E-339C59DC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33800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Kanye West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E87713-BC60-4C05-AA6E-25744F61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766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7D68F1-E571-4573-80F1-E24405A9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733800"/>
            <a:ext cx="704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2,063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516E3A-8656-48A6-B21A-9D9CA636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767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12478C-7EFA-4D81-A7C6-8E6F7356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33850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Love Lockdown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99513F-A84B-47E5-8D76-0258938E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767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E5ECC5-5C76-4443-985B-031109B9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33850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Kanye West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8812B25-5686-45B8-BE0B-623E9C94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767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635671B-4B80-4CF2-9635-7F39FDAB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133850"/>
            <a:ext cx="704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2,062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F36337B-2175-4049-8401-7E0158C9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5780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A821DCF-AA8C-4BCB-88B3-F6F89ED2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578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38F0239-08EC-4C74-8875-6DFBF39E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91150"/>
            <a:ext cx="828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Interpretation: repeated listens to a compact set of popular tracks helps justify using implicit feedback for the recommender in Part B.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4244DF-AB0F-4FF0-A944-7658C68C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Big Data Analytics Mini Project | Last.fm 1K | PySpark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1C8F91E-3B26-4F8E-9BE2-3F42583E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521555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5A0273-7D53-4398-B213-6B7A7DF2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6">
            <a:extLst xmlns:a="http://schemas.openxmlformats.org/drawingml/2006/main">
              <a:ext uri="{FF2B5EF4-FFF2-40B4-BE49-F238E27FC236}">
                <a16:creationId xmlns:a16="http://schemas.microsoft.com/office/drawing/2014/main" id="{26C0B3C4-0431-4144-8E2B-3CDF8442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6">
            <a:extLst xmlns:a="http://schemas.openxmlformats.org/drawingml/2006/main">
              <a:ext uri="{FF2B5EF4-FFF2-40B4-BE49-F238E27FC236}">
                <a16:creationId xmlns:a16="http://schemas.microsoft.com/office/drawing/2014/main" id="{40BE2D8A-3C8F-4311-AF6D-BD8AECA9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TEMPORAL BEHAVIOR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AA343-E9BB-4ED6-A45F-28D6EBA3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Listening peaks on weekends and in the evening.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0DEF1-B298-434A-9D84-EBA18E0C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Spark time features expose when users are most active across the sampled listening history.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75A01-DB20-4B57-AB08-09D35C57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Listening events by 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0D161-A066-42B7-B738-1D9EF170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62290"/>
            <a:ext cx="495300" cy="1704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AC00E-B252-42DA-BD51-53421C5D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76250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6EF02-CD1D-4A08-AE96-2889CBAB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44475"/>
            <a:ext cx="495300" cy="172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053BA-F412-4CE4-A172-69E56137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6250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344F5D-EF8E-456D-875E-1A0E9326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03785"/>
            <a:ext cx="495300" cy="16634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22220-4152-477F-AE43-FEA96BAC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76250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Wed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1BCB0-5561-48E7-8C59-2C1CA232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95216"/>
            <a:ext cx="495300" cy="167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F08F7-1010-4AF3-80E6-69157308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76250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C344E5-4667-4937-886C-2BC241CB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0509"/>
            <a:ext cx="495300" cy="1696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44E60-0AB1-4E22-84F6-CA6B5D5C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76250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Fri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2C05AC-C59B-40FD-AA01-235D5365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67228"/>
            <a:ext cx="495300" cy="1800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7CBC81-248A-41E4-B7B2-AE012E15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76250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00B698-215A-41AE-88AA-98A5CCC3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57500"/>
            <a:ext cx="495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440DAA-3145-4614-AB63-88E02ABE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76250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Sun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61E364-329C-4F57-83D7-9FA917FC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Evening activity by hour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68A4C5-1B0E-496E-8398-7D5E1932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21149"/>
            <a:ext cx="443593" cy="1546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787B9B-0A26-4ACC-A811-C3BCE15C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762500"/>
            <a:ext cx="5388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49FB9F-5B6C-417E-96E9-D97D8FE8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6343" y="3112912"/>
            <a:ext cx="443593" cy="1554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5318BD-F0F9-4E6F-837E-10B1E855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718" y="4762500"/>
            <a:ext cx="5388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9A75DB-6257-4E13-BA7F-1A77157F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3286" y="2974873"/>
            <a:ext cx="443593" cy="16923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AA43F9-E6DA-403E-9DF4-BCB6C0D2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661" y="4762500"/>
            <a:ext cx="5388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7AC24C-9CCC-42F7-B99A-3F1A02D4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0229" y="2857500"/>
            <a:ext cx="443593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02E5D6-B0C9-44E7-9837-C2B97D25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604" y="4762500"/>
            <a:ext cx="5388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FEA867-BEF8-4523-A60C-FF9822B4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171" y="2930814"/>
            <a:ext cx="443593" cy="1736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5A11F9-761A-4041-958E-F485E5DB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546" y="4762500"/>
            <a:ext cx="5388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8843A4-5931-4587-A0AF-F0717E89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4114" y="3001548"/>
            <a:ext cx="443593" cy="16657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843A16-A165-49BF-BCDF-88F2FDD6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6489" y="4762500"/>
            <a:ext cx="5388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422563-D6C0-4305-916F-21C2972A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1057" y="3064515"/>
            <a:ext cx="443593" cy="1602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0C8F94-654F-4AF5-97CE-BBF400DC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3432" y="4762500"/>
            <a:ext cx="5388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D119CD-1F34-41AB-9475-6913B930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197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7FC3A8-A912-4BBB-B525-4E6E137D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197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BB9B29-BFE9-45FA-B442-8F94A05C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353050"/>
            <a:ext cx="695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Most active hour in the sample: 18:00 with 61,737 listening events. Sunday is the highest-volume day.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A961AB-30B1-46F9-8512-F4A26AC7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Big Data Analytics Mini Project | Last.fm 1K | PySpark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E4EBFD-C923-47FD-8BBE-5B4D8FF1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39145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067F87-B9D9-4190-8941-649D9C62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7">
            <a:extLst xmlns:a="http://schemas.openxmlformats.org/drawingml/2006/main">
              <a:ext uri="{FF2B5EF4-FFF2-40B4-BE49-F238E27FC236}">
                <a16:creationId xmlns:a16="http://schemas.microsoft.com/office/drawing/2014/main" id="{601CDF7C-E1C8-4F69-9B88-0410C321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7">
            <a:extLst xmlns:a="http://schemas.openxmlformats.org/drawingml/2006/main">
              <a:ext uri="{FF2B5EF4-FFF2-40B4-BE49-F238E27FC236}">
                <a16:creationId xmlns:a16="http://schemas.microsoft.com/office/drawing/2014/main" id="{2E8D4F94-06A0-4810-B534-796C9A35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SPARK ML SEGMENTATION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A025C-A954-4608-BC72-99F34B1E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KMeans separates listeners by volume, diversity, and repeat behavior.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754BC-81B7-41DF-92CA-FEA825D0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Part A goes beyond EDA by training a Spark ML clustering model on engineered user behavior features.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ACE97-493C-4313-8038-4E613494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35A87-23B3-4C01-A5BB-E85F7E90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800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Segment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C829D-B790-44AF-8EDD-12F680F3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476500"/>
            <a:ext cx="85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9FF19-D3EE-4A31-AEF2-5AE011FC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533650"/>
            <a:ext cx="704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6AF36-7424-45B5-8532-B3472FDD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765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29CA6C-E8B9-4D49-938B-4AD2DEC0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33650"/>
            <a:ext cx="1276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Avg listens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9EDE0-4DE5-4B45-A591-DF39E2A4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765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B804E-A2BD-4F51-870E-06DDF7E9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33650"/>
            <a:ext cx="1276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Repeat 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545586-491E-48A1-A955-6EAC18BD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7650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1801B2-2E63-49A7-A431-5E42676E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33650"/>
            <a:ext cx="2133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Label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5E0B57-D986-4CE4-896E-E9615CB5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194A1D-6656-4794-9387-679A971C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800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B822DB-EE72-4C48-BDCF-D0E41537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90850"/>
            <a:ext cx="85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C2F623-05F1-43D1-A13C-4EDA5E36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48000"/>
            <a:ext cx="704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F03A67-AF76-417E-B4C0-8BFF9DC4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908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E3F459-2577-492B-A2B9-C82540CB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48000"/>
            <a:ext cx="1276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56,323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B801B-0985-4154-9EFD-49C065EC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908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B7ECAD-5388-4515-9DBB-A91DAC61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48000"/>
            <a:ext cx="1276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0.8273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52C4B6-0CB8-4A89-8803-89E2AB36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9085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A50C92-D59D-4DD3-B1F1-DF78BC76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48000"/>
            <a:ext cx="2133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Heavy listeners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004E20-7C52-4CA9-BF70-B20D16FC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55382A-08CC-451E-883E-1699BBE4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800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4BE8B6-D881-4CE4-AC93-7D5734A0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85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91EFBA-944F-4349-8276-66B4D4F5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2350"/>
            <a:ext cx="704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E4BC79-F106-4E4A-8F6E-0E06BF55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05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EFC1B1-9FB5-49AF-A077-331AE18A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62350"/>
            <a:ext cx="1276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13,596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8E2FE2-F600-4957-852B-6671E4A5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05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440569-B8BA-47CE-AFF1-D2341353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62350"/>
            <a:ext cx="1276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0.6861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1D7FE3-DD7B-46E4-BEBB-56BA624B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0520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7CE965-1038-42B9-9650-A0235DD5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62350"/>
            <a:ext cx="2133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Balanced listeners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DE65CF-E360-43F6-B2F3-13C7B2AC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994485-957E-49EE-8C2D-B41ECED8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800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1BD1E5-F24C-40F4-86D6-6681DAD8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19550"/>
            <a:ext cx="85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9ACF73-16A0-4319-8C5E-54EF57DA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76700"/>
            <a:ext cx="704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F50A00-1C6D-4F62-9253-EBEC36DD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195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8DD9A2-D209-4F60-BA11-82B16059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76700"/>
            <a:ext cx="1276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28,098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16ECAB-A80C-4337-964D-0542C539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195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3F0AE6-747B-477C-8220-2ABC37D1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76700"/>
            <a:ext cx="1276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0.5590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73EB26-3CED-4420-B320-A88CDBF6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1955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4112B1-5F57-4731-BB9D-A5D34DA5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076700"/>
            <a:ext cx="2133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Music explorers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8C4C65-65A5-4E84-99CA-D0757BE0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003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Feature set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03B8CBA-4F74-4AB9-8C2F-EE5C462D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FC60276-5324-4866-AFDF-E92891D0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194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total listens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58DCCC-38CD-46D2-90B7-F033F626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120293-B728-4841-AC2D-67FDA03B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861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unique artists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AD72D9-C5D4-4806-8682-DBA761C4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09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E9EE1DF-E992-48F8-A826-BCC46BF8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528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unique tracks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68B113-0DBD-4570-BA73-3362200D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5106CF1-337C-464D-AD93-AA34B04A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195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active days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446FF1B-DE0F-4068-9A0D-03265290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1797421-5FC0-43A8-903D-40C93401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862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avg listens / day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AD248A6-E870-42A3-B8C7-A66DE981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F6D0880-6830-4729-AB14-0A022479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529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artist diversity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9D97362-9958-4329-B629-75C9ADD9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76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816B4E9-29D8-4B8C-BB5D-D8BD2A7B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196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repeat rate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C5CB809-4123-4C73-B2C1-E4631C9E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43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2B9553A-4420-48C4-B744-461F9D18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863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night share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2049A20-9DBB-4CCF-8356-8593C861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10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CCE41D8-A674-4D4B-AD0E-D90C2519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530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weekend share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D4DE8C1-B393-476F-8BDE-8D346510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53050"/>
            <a:ext cx="885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79042FF-FFFC-4692-A3A2-3B001435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5305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3F2C41E-A856-4D3A-8EBD-E763DF84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864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Interpretation: the segmentation creates a useful Part A analytics outcome and can also improve future personalized recommendation strategies.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28659BA-A436-4295-BF0A-7150FB0C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Big Data Analytics Mini Project | Last.fm 1K | PySpark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C2E3EF9-2D69-4551-BF5F-DF1DE314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677312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9003EA-79F2-4C0B-B038-1B5764C8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8">
            <a:extLst xmlns:a="http://schemas.openxmlformats.org/drawingml/2006/main">
              <a:ext uri="{FF2B5EF4-FFF2-40B4-BE49-F238E27FC236}">
                <a16:creationId xmlns:a16="http://schemas.microsoft.com/office/drawing/2014/main" id="{917A3A1F-8949-4AFF-8157-512025C3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8">
            <a:extLst xmlns:a="http://schemas.openxmlformats.org/drawingml/2006/main">
              <a:ext uri="{FF2B5EF4-FFF2-40B4-BE49-F238E27FC236}">
                <a16:creationId xmlns:a16="http://schemas.microsoft.com/office/drawing/2014/main" id="{2C802EDD-1AE0-431F-9819-A8EE1FD0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PART B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60881-320F-46E8-906A-8BF1DF57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ALS turns listening counts into ranked song recommendations.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7387F-00B7-4899-A39B-68DC8579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Play count is treated as implicit preference, then Spark MLlib ALS learns user and track factors.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26536-5C6F-4962-B93B-DF4173BE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F5748-6C48-4EBC-8321-401772F7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Listening events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E32EE-F867-44AE-8063-94B784D2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Raw user, artist, track, timestamp rows.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0B5F6-DA57-46CC-9995-8BF1193B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228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3F7E6-9D4C-4601-B252-DD879AC1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432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Play counts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803D0-63D8-478A-8AFA-C9E762CD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Group by user and track, then log-scale preference.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E6CE9-9D18-4F51-8714-3FF91757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71750"/>
            <a:ext cx="2190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E12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59894-2010-4720-9DBD-74FF0B46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432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ALS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3AF6C4-4641-456A-BAE5-FC3CF151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Spark MLlib collaborative filtering with implicitPrefs=True.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5378C-474B-43E8-96EA-85196FFA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71750"/>
            <a:ext cx="2190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452051-024D-41FB-BF98-B95604D1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432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Top-10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744A79-4E27-47FC-971A-3B386188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480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Exclude known songs and rank unseen candidates.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8BC35C-2D36-4968-A28E-9E978072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99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F2A121-A86D-4B2D-8697-B98308E9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099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422481-63E7-4C5F-9D4B-6A6DBD74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17F35B-AC25-4827-878F-8DB8B683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196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E8E28F-5830-49FC-9039-68537590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7200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84,633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93B51F-7F06-404C-95DA-6D6BA126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9149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model interactions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C46607-907B-45A2-85D6-E54A5011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196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73B1F0-3AE3-4808-A1ED-7DF1A5EA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7200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1.3045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C6CF37-D56F-4607-8469-1B26FE2C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9149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RMSE diagnostic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3F90F5-E6B0-42A8-8731-477C2005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196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DA8ECB-625D-4E05-811C-984B43EB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7200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0.0244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DD6700-C42C-4A9B-92FE-C3D73FE0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149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Precision@10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F48420-9DEE-49A1-B087-1F0AF46D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196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EE1DDF-9004-461C-ADB6-05CB5B23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7200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0.1220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2C75CB-CFC9-4A70-8EBE-BEA7E6FC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149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Hit Rate@10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CC6644-CA14-468C-A755-D1D4768C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Big Data Analytics Mini Project | Last.fm 1K | PySpark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F6A30C-2C21-4D8E-B520-72BC100A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984009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51C0AE-14BC-45CE-B819-9E780293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9">
            <a:extLst xmlns:a="http://schemas.openxmlformats.org/drawingml/2006/main">
              <a:ext uri="{FF2B5EF4-FFF2-40B4-BE49-F238E27FC236}">
                <a16:creationId xmlns:a16="http://schemas.microsoft.com/office/drawing/2014/main" id="{A0A78A23-838A-40AE-BBE9-6DA4960E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9">
            <a:extLst xmlns:a="http://schemas.openxmlformats.org/drawingml/2006/main">
              <a:ext uri="{FF2B5EF4-FFF2-40B4-BE49-F238E27FC236}">
                <a16:creationId xmlns:a16="http://schemas.microsoft.com/office/drawing/2014/main" id="{585BAD3F-C775-4455-B6EE-DC53F8A2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RECOMMENDATION OUTPUT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CA1E0-339B-4858-A37E-454259DB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For user_000031, the model recommends a mix of hip-hop, soul, and rock.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C7420-CDBB-4BC5-8EEA-6A20CFEC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output table is generated by scoring candidate tracks and removing songs already listened to by the user.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BED6F-7590-4949-9717-F9649FC7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08A37-7B59-466D-9F35-CEA895E1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7222C6-09B8-4DF7-A1DC-910D0BAC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622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6E632-E9E3-4239-8671-35C9FB16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19350"/>
            <a:ext cx="3086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Recommended track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AAA6E-CA77-4DFC-8D35-5976A3D3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C632E-8AE4-4826-AADB-FAC22769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1935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Artist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5304F-79CA-47FF-965C-A307A459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6220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C0DEC5-6001-418F-9CB3-8A0B4A53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1935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BE98A9-8E3E-4940-8303-F59FD8D4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907938-EDEC-49FB-BFE7-BBA4970D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557B99-4A3D-4A5C-8459-65DFF5FA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813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37607E-79AB-4289-A78D-4F79D752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3086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Stand Up Guy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7DB3D5-F81C-46C5-A58C-5C9DF592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407D38-D853-49C5-81CC-17E0EA0D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3845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T.I.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DDD324-58E2-42D1-8B08-A20F5FE6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8130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2B84B2-A7E1-412E-AE97-1BC63F1D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3845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1.6746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26C766-502E-45D8-90FC-43A3DD60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E10936-52A7-47EF-90F4-26406D56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27C9B6-FE6E-4045-866F-943B9A2D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004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E9FD28-87A5-4C37-A408-AD0078B2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57550"/>
            <a:ext cx="3086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Cream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D152C5-CC5E-4179-BCC6-AB8DC804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004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7CF2A8-8E8E-4A35-A1A6-D8BC4B6E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5755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Prince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CB0F50-E680-4856-BDB0-627A5A3B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0040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9D83A1-BC36-4798-AB44-F71FDE3E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1.4785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4F77CE-B56A-49EC-B1E6-C024812B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353896-1883-4BD4-81F1-30A25D12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0A2198-15F5-40A9-8887-010294F9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195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1CE02B-7E9A-416F-A9C0-82A19F71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76650"/>
            <a:ext cx="3086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 And Those Dreamin' Eyes Of Mine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EAE42E-FC93-47A7-B882-2F4A7185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195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8B42FE-CB3D-4E55-B9DB-D4AEECC0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7665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D'Angelo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8E4204-9FDC-4DC3-88E1-851A134C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1950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177C65-DECA-47D6-BF5D-F7CFB2C2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7665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1.4744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2FE5FB-9D69-4B1E-9F1A-1DAA4E65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DE3EEE-BEB9-487C-863D-D52BCEE4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FCB7C1-F931-440B-AA08-527BFE59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386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8C07E3-9A80-4A64-810B-798DDC80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3086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Rain On Me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FF1A5A-4185-4526-8DA3-DDDE6077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A272C1-0048-4685-AFE4-5E8EAE39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Ashanti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DBC4BA-EBA7-47B2-B1EF-2BE67592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3860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7D6F9F-EFDA-47E2-B200-8CA40A14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1.4671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E24D5D-01DD-4440-8C67-7EF6B19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6E4EB1-B1FC-4795-8C6B-6DEE188B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F15E9AB-96D4-4AC7-AF60-1F84D19D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577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286A92-A351-4CE5-8F33-D1B62C7D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14850"/>
            <a:ext cx="3086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Kingdom Of Doom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1A25EDF-A7BF-4103-BE66-CB15F9D2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577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A544E9-2C43-4322-84B3-761EE723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1485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Good, The Bad &amp; The Queen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B3DCFF8-E5C0-4EDE-A8D4-CD4D8DE4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5770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AFC86BE-CC92-40CA-A462-A911669D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1485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1.4627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B679778-C320-40FF-BEDD-115F1834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7E75F2-4793-4CA2-8CD7-16207F35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258AD91-C4AB-4AEC-AF43-BF0E6C70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768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B78430E-B6F6-470C-A16C-2BBB98D0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3086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Sweet Sweet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B30812F-DB65-4D50-ADC5-EFCE6534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768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3966C1B-EAA0-4818-8D8E-DB586F94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3395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Smashing Pumpkins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E301A01-68BF-4D23-988D-BE3F4A90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7680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48C6AC0-6EAB-430F-88D6-BC146593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3395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1.4592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2FD9C02-D95F-4F26-9A0A-1DA0E935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86400"/>
            <a:ext cx="876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1CEB1C2-2C1C-4EAA-B316-9BC140A1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8640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159A21E-B777-4C2F-BD25-470AEDED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619750"/>
            <a:ext cx="8477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Known-user context: user_000031 listened heavily to The Futureheads, Ladytron, Cocteau Twins, Siouxsie And The Banshees, Arcade Fire, Hard-Fi, and Radiohead.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8E21AB2-0B64-45DB-A0D2-A63783FD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Big Data Analytics Mini Project | Last.fm 1K | PySpark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B80C48A-0562-434B-9E6F-5BDD3069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0615346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7191DB-F7DE-4682-92F1-4CF0C300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10">
            <a:extLst xmlns:a="http://schemas.openxmlformats.org/drawingml/2006/main">
              <a:ext uri="{FF2B5EF4-FFF2-40B4-BE49-F238E27FC236}">
                <a16:creationId xmlns:a16="http://schemas.microsoft.com/office/drawing/2014/main" id="{E239A8C4-5A4A-4B94-AC43-D5095129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10">
            <a:extLst xmlns:a="http://schemas.openxmlformats.org/drawingml/2006/main">
              <a:ext uri="{FF2B5EF4-FFF2-40B4-BE49-F238E27FC236}">
                <a16:creationId xmlns:a16="http://schemas.microsoft.com/office/drawing/2014/main" id="{DF74FE22-98E7-4008-8EC0-2CA7C889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SUBMISSION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F09CC-D7C6-450D-A8E9-A04E8410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final package is ready for submission and viva demonstration.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F1E20-D889-427E-AA78-BE73363F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project demonstrates both analytics and recommendation techniques using PySpark on a real music dataset.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A690B-F614-41B3-89C0-086C4583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9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4C17D-3504-4763-AC6B-B2891634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DEE36-7B17-4156-9BF8-A98CD634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8125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9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66A25-41D5-42CD-8879-E9E8C44E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38400"/>
            <a:ext cx="670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File /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9CCDE-CAC6-4F3A-A54A-94D64C74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8935A7-E259-4F23-84EA-EDAABA1B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Part A notebook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8468E-2319-486C-A171-D84A32E2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3845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852C73-16A5-4017-A6EF-D31705CB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95600"/>
            <a:ext cx="670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Music_Listening_Analytics_Bonus_PartA_PySpark.ipynb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D4381-ADEB-417A-B48E-C72A2C23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F1CEA-1AED-4F33-B505-7E5D490E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Part B notebook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40B7AF-3EEE-4086-9838-C9DA0821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9565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BE171-F427-4362-9CFF-4B17D7E9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52800"/>
            <a:ext cx="670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Music_Recommendation_PySpark.ipynb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B2A76C-CA16-406D-A9BE-CA489618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AC48C9-8BE9-4F69-A8A2-795EDF0D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Dataset link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D85D6A-AD86-4828-81A4-94EBAA2B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5285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975D7A-D721-47C2-9B4D-17F03063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10000"/>
            <a:ext cx="670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Last.fm Dataset - 1K users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808D9A-5471-47FE-B3C3-83F95ACD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2DDBB8-647B-491E-8904-2BEF3889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Outputs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16FEE2-AE0E-4614-8837-8074E0FC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21005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5BB88F-6BC3-460F-8933-2DDD828F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67200"/>
            <a:ext cx="670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CSV summaries, segments, metrics, and recommendations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749596-FCB4-4A5E-B2BC-14F4D404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46DD66-E3D0-4D22-8B7F-7DE57500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Guide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BED942-9AA9-47C8-BB6C-9933BC53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6725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4ABAE1-A526-4DBC-A1A8-C07BD2DF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24400"/>
            <a:ext cx="670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README.md and BONUS_SUBMISSION_GUIDE.md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ECDB15-C733-40CD-8B36-9A9F28D7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72100"/>
            <a:ext cx="8115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9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BEEED8-B8A3-449A-BD5B-0DF39F0E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721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B849AB-B356-44D8-9F5F-567294F7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05450"/>
            <a:ext cx="782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Demo flow: open Jupyter, run Part A summary and clustering cells, then run Part B ALS training and recommendation output cells.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7E0C14-C0BB-4294-8B5B-1DC8C373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Big Data Analytics Mini Project | Last.fm 1K | PySpark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4F403E-BC66-402B-8A42-C5B95325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473724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2026-05-16T15:14:28.5070000Z</dcterms:created>
  <dcterms:modified xsi:type="dcterms:W3CDTF">2026-05-16T15:14:28.5070000Z</dcterms:modified>
</coreProperties>
</file>