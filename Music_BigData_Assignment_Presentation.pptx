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58"/>
  </p:normalViewPr>
  <p:slideViewPr>
    <p:cSldViewPr snapToGrid="0">
      <p:cViewPr varScale="1">
        <p:scale>
          <a:sx n="105" d="100"/>
          <a:sy n="105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E48983B-6623-B3BD-419B-4CE2BB636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191C66-A50D-49A8-9F95-B1D911969301}"/>
              </a:ext>
            </a:extLst>
          </p:cNvPr>
          <p:cNvSpPr>
            <a:spLocks noGrp="1"/>
          </p:cNvSpPr>
          <p:nvPr/>
        </p:nvSpPr>
        <p:spPr>
          <a:xfrm>
            <a:off x="422910" y="319886"/>
            <a:ext cx="4534284" cy="3858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Big Data Analytics Mini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C4076-F099-4B11-9503-C81BB10EFDBE}"/>
              </a:ext>
            </a:extLst>
          </p:cNvPr>
          <p:cNvSpPr>
            <a:spLocks noGrp="1"/>
          </p:cNvSpPr>
          <p:nvPr/>
        </p:nvSpPr>
        <p:spPr>
          <a:xfrm>
            <a:off x="422910" y="1596009"/>
            <a:ext cx="6677349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300"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Music Listening Analytics and Recommendation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012E7-CB24-4177-911D-22BFB7F0BA7A}"/>
              </a:ext>
            </a:extLst>
          </p:cNvPr>
          <p:cNvSpPr>
            <a:spLocks noGrp="1"/>
          </p:cNvSpPr>
          <p:nvPr/>
        </p:nvSpPr>
        <p:spPr>
          <a:xfrm>
            <a:off x="422910" y="2646308"/>
            <a:ext cx="5564803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Using </a:t>
            </a:r>
            <a:r>
              <a:rPr sz="1350" b="0" dirty="0" err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PySpark</a:t>
            </a:r>
            <a:r>
              <a:rPr sz="135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and the Last.fm 1K listening 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F4C28-64FB-4E0A-9971-AE6B0CC45BBF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40E7B-13D4-8835-70B9-E906D8BA413D}"/>
              </a:ext>
            </a:extLst>
          </p:cNvPr>
          <p:cNvSpPr>
            <a:spLocks noGrp="1"/>
          </p:cNvSpPr>
          <p:nvPr/>
        </p:nvSpPr>
        <p:spPr>
          <a:xfrm>
            <a:off x="372955" y="6012324"/>
            <a:ext cx="2832356" cy="6551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t"/>
          <a:lstStyle/>
          <a:p>
            <a:pPr rtl="0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Name-: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S.S.Dharmawansa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rtl="0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Index-: 258769C</a:t>
            </a:r>
          </a:p>
        </p:txBody>
      </p:sp>
    </p:spTree>
    <p:extLst>
      <p:ext uri="{BB962C8B-B14F-4D97-AF65-F5344CB8AC3E}">
        <p14:creationId xmlns:p14="http://schemas.microsoft.com/office/powerpoint/2010/main" val="722577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43B3CD-5346-48EA-8177-B6BA58AB26B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64924-EC81-432B-B97C-71F215AD6D33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34568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submission covers the required music recommendation system and the extra analytics work for bonus marks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0433C-367B-434B-A6AF-E0AA16D7AB92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4381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63046E-005B-4A95-A3E2-C9EEFB198C65}"/>
              </a:ext>
            </a:extLst>
          </p:cNvPr>
          <p:cNvSpPr>
            <a:spLocks noGrp="1"/>
          </p:cNvSpPr>
          <p:nvPr/>
        </p:nvSpPr>
        <p:spPr>
          <a:xfrm>
            <a:off x="1200150" y="2609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D5D52-ABA6-4B7C-ADAE-B790CCD80BC9}"/>
              </a:ext>
            </a:extLst>
          </p:cNvPr>
          <p:cNvSpPr>
            <a:spLocks noGrp="1"/>
          </p:cNvSpPr>
          <p:nvPr/>
        </p:nvSpPr>
        <p:spPr>
          <a:xfrm>
            <a:off x="1200150" y="29146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Big Data Analytics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D650F-37C5-476C-95D2-D4C539E1AB5A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342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aggregations, temporal patterns, country analysis, and KMeans listener segmentation.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3577C-F6CF-4321-8719-DF721095D0A2}"/>
              </a:ext>
            </a:extLst>
          </p:cNvPr>
          <p:cNvSpPr>
            <a:spLocks noGrp="1"/>
          </p:cNvSpPr>
          <p:nvPr/>
        </p:nvSpPr>
        <p:spPr>
          <a:xfrm>
            <a:off x="6934200" y="2333625"/>
            <a:ext cx="4381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5E42D2-2AED-425F-8F9E-97CB6CEF84F1}"/>
              </a:ext>
            </a:extLst>
          </p:cNvPr>
          <p:cNvSpPr>
            <a:spLocks noGrp="1"/>
          </p:cNvSpPr>
          <p:nvPr/>
        </p:nvSpPr>
        <p:spPr>
          <a:xfrm>
            <a:off x="7258050" y="2609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2A0970-9B47-4F72-A20B-C1DBDE68E60A}"/>
              </a:ext>
            </a:extLst>
          </p:cNvPr>
          <p:cNvSpPr>
            <a:spLocks noGrp="1"/>
          </p:cNvSpPr>
          <p:nvPr/>
        </p:nvSpPr>
        <p:spPr>
          <a:xfrm>
            <a:off x="7258050" y="2914650"/>
            <a:ext cx="333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Recommendation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13901-8C6F-4375-A4BA-E64992F4AB4C}"/>
              </a:ext>
            </a:extLst>
          </p:cNvPr>
          <p:cNvSpPr>
            <a:spLocks noGrp="1"/>
          </p:cNvSpPr>
          <p:nvPr/>
        </p:nvSpPr>
        <p:spPr>
          <a:xfrm>
            <a:off x="7258050" y="3581400"/>
            <a:ext cx="342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MLlib ALS on implicit feedback, model evaluation, and top-10 song recommendations.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F14FCB-DAA8-46C0-AAC7-BEBE47CE24AB}"/>
              </a:ext>
            </a:extLst>
          </p:cNvPr>
          <p:cNvSpPr>
            <a:spLocks noGrp="1"/>
          </p:cNvSpPr>
          <p:nvPr/>
        </p:nvSpPr>
        <p:spPr>
          <a:xfrm>
            <a:off x="5676900" y="3190875"/>
            <a:ext cx="8382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E779D-6BA3-42F6-883B-25F04FDE437A}"/>
              </a:ext>
            </a:extLst>
          </p:cNvPr>
          <p:cNvSpPr>
            <a:spLocks noGrp="1"/>
          </p:cNvSpPr>
          <p:nvPr/>
        </p:nvSpPr>
        <p:spPr>
          <a:xfrm>
            <a:off x="5543550" y="28765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BONUS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DEF703-8564-4072-ABFB-0F648666135B}"/>
              </a:ext>
            </a:extLst>
          </p:cNvPr>
          <p:cNvSpPr>
            <a:spLocks noGrp="1"/>
          </p:cNvSpPr>
          <p:nvPr/>
        </p:nvSpPr>
        <p:spPr>
          <a:xfrm>
            <a:off x="2152650" y="5029200"/>
            <a:ext cx="7886700" cy="62865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EF7276-4F2F-4C25-8B7A-E691A56B9417}"/>
              </a:ext>
            </a:extLst>
          </p:cNvPr>
          <p:cNvSpPr>
            <a:spLocks noGrp="1"/>
          </p:cNvSpPr>
          <p:nvPr/>
        </p:nvSpPr>
        <p:spPr>
          <a:xfrm>
            <a:off x="2152650" y="5029200"/>
            <a:ext cx="47625" cy="6286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349C3B-A813-4511-879D-EEB4D86E7B82}"/>
              </a:ext>
            </a:extLst>
          </p:cNvPr>
          <p:cNvSpPr>
            <a:spLocks noGrp="1"/>
          </p:cNvSpPr>
          <p:nvPr/>
        </p:nvSpPr>
        <p:spPr>
          <a:xfrm>
            <a:off x="2324100" y="5162550"/>
            <a:ext cx="7600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Submission files: two executed </a:t>
            </a:r>
            <a:r>
              <a:rPr sz="1400" b="0" dirty="0" err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Jupyter</a:t>
            </a:r>
            <a:r>
              <a:rPr sz="14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notebooks, README, generated CSV outputs, and this presentation.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4EE9A8-984E-4756-9DD8-1EEB68C006E2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229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3">
            <a:extLst>
              <a:ext uri="{FF2B5EF4-FFF2-40B4-BE49-F238E27FC236}">
                <a16:creationId xmlns:a16="http://schemas.microsoft.com/office/drawing/2014/main" id="{E8118A99-F463-458F-9767-DEAC6131C49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3">
            <a:extLst>
              <a:ext uri="{FF2B5EF4-FFF2-40B4-BE49-F238E27FC236}">
                <a16:creationId xmlns:a16="http://schemas.microsoft.com/office/drawing/2014/main" id="{8496B1CD-CA05-41B2-A093-DAB79DB22DEB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7389B-ED0C-4A81-A6D5-B5E7CB29A62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Data Processing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74A4C-8F0B-4213-AA53-FDD5FD70F32C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7086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same cleaned Last.fm data is used for analytics, clustering, and music recommendation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F592D-50AC-4BF3-9B0F-39C9D1F63551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238375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953B0-4239-4FEC-B91A-DEAA6F4AEC96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76200" cy="10668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DF5AE9-C590-4C1E-BC54-DD45FE7411F3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8954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Raw Last.fm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EF8DD-C9B1-45BE-873A-6B6B19667CD2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18764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Listening history TSV plus user profile TSV from the downloaded dataset folder.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A1EA6C-34E8-419E-8903-D45986035D23}"/>
              </a:ext>
            </a:extLst>
          </p:cNvPr>
          <p:cNvSpPr>
            <a:spLocks noGrp="1"/>
          </p:cNvSpPr>
          <p:nvPr/>
        </p:nvSpPr>
        <p:spPr>
          <a:xfrm>
            <a:off x="3105150" y="2981325"/>
            <a:ext cx="904875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E3B4F-08A1-43FF-9CE0-388D1B0A45CA}"/>
              </a:ext>
            </a:extLst>
          </p:cNvPr>
          <p:cNvSpPr>
            <a:spLocks noGrp="1"/>
          </p:cNvSpPr>
          <p:nvPr/>
        </p:nvSpPr>
        <p:spPr>
          <a:xfrm>
            <a:off x="3990975" y="2924175"/>
            <a:ext cx="133350" cy="1524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7D2E8E-D153-49D7-B617-69F96C970D20}"/>
              </a:ext>
            </a:extLst>
          </p:cNvPr>
          <p:cNvSpPr>
            <a:spLocks noGrp="1"/>
          </p:cNvSpPr>
          <p:nvPr/>
        </p:nvSpPr>
        <p:spPr>
          <a:xfrm>
            <a:off x="4191000" y="2476499"/>
            <a:ext cx="2476500" cy="1200149"/>
          </a:xfrm>
          <a:prstGeom prst="rect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CE66C-F5AA-4E97-9A29-A06B6106429E}"/>
              </a:ext>
            </a:extLst>
          </p:cNvPr>
          <p:cNvSpPr>
            <a:spLocks noGrp="1"/>
          </p:cNvSpPr>
          <p:nvPr/>
        </p:nvSpPr>
        <p:spPr>
          <a:xfrm>
            <a:off x="4191000" y="2476500"/>
            <a:ext cx="76200" cy="10668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276DA-6240-4EAC-825B-BEE7F99E261F}"/>
              </a:ext>
            </a:extLst>
          </p:cNvPr>
          <p:cNvSpPr>
            <a:spLocks noGrp="1"/>
          </p:cNvSpPr>
          <p:nvPr/>
        </p:nvSpPr>
        <p:spPr>
          <a:xfrm>
            <a:off x="4400550" y="26670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PySpark cleaning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C95DFA-4713-4A4F-9272-AADAF4AB9C75}"/>
              </a:ext>
            </a:extLst>
          </p:cNvPr>
          <p:cNvSpPr>
            <a:spLocks noGrp="1"/>
          </p:cNvSpPr>
          <p:nvPr/>
        </p:nvSpPr>
        <p:spPr>
          <a:xfrm>
            <a:off x="4400550" y="300990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Schema, timestamp parsing, track key fallback, profile join, and de-duplication.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6ABBA5-B4F4-48F1-9E01-5D9402C1DD8F}"/>
              </a:ext>
            </a:extLst>
          </p:cNvPr>
          <p:cNvSpPr>
            <a:spLocks noGrp="1"/>
          </p:cNvSpPr>
          <p:nvPr/>
        </p:nvSpPr>
        <p:spPr>
          <a:xfrm>
            <a:off x="6877050" y="2981325"/>
            <a:ext cx="857250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23EF51-A650-4338-B574-8124E9D638A2}"/>
              </a:ext>
            </a:extLst>
          </p:cNvPr>
          <p:cNvSpPr>
            <a:spLocks noGrp="1"/>
          </p:cNvSpPr>
          <p:nvPr/>
        </p:nvSpPr>
        <p:spPr>
          <a:xfrm>
            <a:off x="7715250" y="2924175"/>
            <a:ext cx="133350" cy="1524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39475-5B4B-46EA-A6F9-52FFCB9FA2B1}"/>
              </a:ext>
            </a:extLst>
          </p:cNvPr>
          <p:cNvSpPr>
            <a:spLocks noGrp="1"/>
          </p:cNvSpPr>
          <p:nvPr/>
        </p:nvSpPr>
        <p:spPr>
          <a:xfrm>
            <a:off x="7924800" y="2476500"/>
            <a:ext cx="2667000" cy="1200148"/>
          </a:xfrm>
          <a:prstGeom prst="rect">
            <a:avLst/>
          </a:prstGeom>
          <a:solidFill>
            <a:srgbClr val="FFFFFF"/>
          </a:solidFill>
          <a:ln w="14288">
            <a:solidFill>
              <a:srgbClr val="D9770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68D37E-78C5-477E-853D-19CDD29913AE}"/>
              </a:ext>
            </a:extLst>
          </p:cNvPr>
          <p:cNvSpPr>
            <a:spLocks noGrp="1"/>
          </p:cNvSpPr>
          <p:nvPr/>
        </p:nvSpPr>
        <p:spPr>
          <a:xfrm>
            <a:off x="7924800" y="2476500"/>
            <a:ext cx="76200" cy="1066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1EB0CD-AABD-440C-BF30-E8E1E478CA36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BD41A4-848B-403B-8D84-4A859627D67F}"/>
              </a:ext>
            </a:extLst>
          </p:cNvPr>
          <p:cNvSpPr>
            <a:spLocks noGrp="1"/>
          </p:cNvSpPr>
          <p:nvPr/>
        </p:nvSpPr>
        <p:spPr>
          <a:xfrm>
            <a:off x="8134350" y="30099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Play counts, listening hour, day, diversity, repeat rate, and ALS indexes.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DE0D03-121B-4D73-AB4A-58683486CEF8}"/>
              </a:ext>
            </a:extLst>
          </p:cNvPr>
          <p:cNvSpPr>
            <a:spLocks noGrp="1"/>
          </p:cNvSpPr>
          <p:nvPr/>
        </p:nvSpPr>
        <p:spPr>
          <a:xfrm>
            <a:off x="5448300" y="3829050"/>
            <a:ext cx="38100" cy="7620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1099D3-0CDA-42DD-9786-936C2B4C3D46}"/>
              </a:ext>
            </a:extLst>
          </p:cNvPr>
          <p:cNvSpPr>
            <a:spLocks noGrp="1"/>
          </p:cNvSpPr>
          <p:nvPr/>
        </p:nvSpPr>
        <p:spPr>
          <a:xfrm>
            <a:off x="3524250" y="4591050"/>
            <a:ext cx="3886200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CB4CD7-552D-4D5F-9F41-0C87AAE88D91}"/>
              </a:ext>
            </a:extLst>
          </p:cNvPr>
          <p:cNvSpPr>
            <a:spLocks noGrp="1"/>
          </p:cNvSpPr>
          <p:nvPr/>
        </p:nvSpPr>
        <p:spPr>
          <a:xfrm>
            <a:off x="3524250" y="4591050"/>
            <a:ext cx="38100" cy="43815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36F09F-8B37-4CEE-9770-1A87EAEF9C4A}"/>
              </a:ext>
            </a:extLst>
          </p:cNvPr>
          <p:cNvSpPr>
            <a:spLocks noGrp="1"/>
          </p:cNvSpPr>
          <p:nvPr/>
        </p:nvSpPr>
        <p:spPr>
          <a:xfrm>
            <a:off x="7372350" y="4591050"/>
            <a:ext cx="38100" cy="43815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F9F125-96F6-4E79-915A-9F9232D3BE4B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30480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6D28D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55DD2-CF30-4C0C-B571-119F8F8FD653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76200" cy="10668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F3C128-E692-4372-839F-7A6FA22F2242}"/>
              </a:ext>
            </a:extLst>
          </p:cNvPr>
          <p:cNvSpPr>
            <a:spLocks noGrp="1"/>
          </p:cNvSpPr>
          <p:nvPr/>
        </p:nvSpPr>
        <p:spPr>
          <a:xfrm>
            <a:off x="2209800" y="52197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A analytics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5A2568-5F01-4C25-A221-563FB00EDAD4}"/>
              </a:ext>
            </a:extLst>
          </p:cNvPr>
          <p:cNvSpPr>
            <a:spLocks noGrp="1"/>
          </p:cNvSpPr>
          <p:nvPr/>
        </p:nvSpPr>
        <p:spPr>
          <a:xfrm>
            <a:off x="2209800" y="5562600"/>
            <a:ext cx="2686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EDA, temporal trends, country analysis, and </a:t>
            </a:r>
            <a:r>
              <a:rPr sz="1200" b="0" dirty="0" err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KMeans</a:t>
            </a: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user segments.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4C372D-CE3D-4056-A5BA-87BEDDE861D8}"/>
              </a:ext>
            </a:extLst>
          </p:cNvPr>
          <p:cNvSpPr>
            <a:spLocks noGrp="1"/>
          </p:cNvSpPr>
          <p:nvPr/>
        </p:nvSpPr>
        <p:spPr>
          <a:xfrm>
            <a:off x="6191250" y="5029200"/>
            <a:ext cx="30480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E123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6A8109-E428-4AA4-A42C-93A66031D7CC}"/>
              </a:ext>
            </a:extLst>
          </p:cNvPr>
          <p:cNvSpPr>
            <a:spLocks noGrp="1"/>
          </p:cNvSpPr>
          <p:nvPr/>
        </p:nvSpPr>
        <p:spPr>
          <a:xfrm>
            <a:off x="6191250" y="5029200"/>
            <a:ext cx="76200" cy="10668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5E2228-6C0B-4CD0-8A63-18C285BBFB73}"/>
              </a:ext>
            </a:extLst>
          </p:cNvPr>
          <p:cNvSpPr>
            <a:spLocks noGrp="1"/>
          </p:cNvSpPr>
          <p:nvPr/>
        </p:nvSpPr>
        <p:spPr>
          <a:xfrm>
            <a:off x="6400800" y="52197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B recommender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E3368D-8F22-48BF-831B-0892DA2BE4C8}"/>
              </a:ext>
            </a:extLst>
          </p:cNvPr>
          <p:cNvSpPr>
            <a:spLocks noGrp="1"/>
          </p:cNvSpPr>
          <p:nvPr/>
        </p:nvSpPr>
        <p:spPr>
          <a:xfrm>
            <a:off x="6400800" y="5562600"/>
            <a:ext cx="2686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ALS collaborative filtering and top-10 music recommendations.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E6405F-A1B6-4AF8-9DD8-BCF8597C8704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560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4">
            <a:extLst>
              <a:ext uri="{FF2B5EF4-FFF2-40B4-BE49-F238E27FC236}">
                <a16:creationId xmlns:a16="http://schemas.microsoft.com/office/drawing/2014/main" id="{656ADA23-15B5-4377-A19F-D13CE936881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4">
            <a:extLst>
              <a:ext uri="{FF2B5EF4-FFF2-40B4-BE49-F238E27FC236}">
                <a16:creationId xmlns:a16="http://schemas.microsoft.com/office/drawing/2014/main" id="{FFF1080B-6D6B-4AFB-9959-52B81CEBD243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4CB56-3066-46C7-B0B9-1D8F98F1E94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Dataset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A8408-F8D1-456B-8558-E34E1FB14A97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notebook uses a laptop-safe sample of 1,000,000 listening events from the Last.fm 1K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E4F8B1-9A83-4831-AA60-51276BE40424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2000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5A7B2-2A6A-4713-BB5C-AD0EA44BBBE6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695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1,000,000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70A6AE-AAA1-44D5-8B97-18065554C228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events processed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AE6D-76FB-475F-A11D-A3DF9CADF5B7}"/>
              </a:ext>
            </a:extLst>
          </p:cNvPr>
          <p:cNvSpPr>
            <a:spLocks noGrp="1"/>
          </p:cNvSpPr>
          <p:nvPr/>
        </p:nvSpPr>
        <p:spPr>
          <a:xfrm>
            <a:off x="2990850" y="2343150"/>
            <a:ext cx="18097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D9FCAC-BA9F-4E25-AA85-1381AE636DB6}"/>
              </a:ext>
            </a:extLst>
          </p:cNvPr>
          <p:cNvSpPr>
            <a:spLocks noGrp="1"/>
          </p:cNvSpPr>
          <p:nvPr/>
        </p:nvSpPr>
        <p:spPr>
          <a:xfrm>
            <a:off x="3143250" y="249555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0637E2-2DE9-4062-BF54-49211AF5548C}"/>
              </a:ext>
            </a:extLst>
          </p:cNvPr>
          <p:cNvSpPr>
            <a:spLocks noGrp="1"/>
          </p:cNvSpPr>
          <p:nvPr/>
        </p:nvSpPr>
        <p:spPr>
          <a:xfrm>
            <a:off x="3143250" y="28384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active users in sample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FC213-BBAF-4AD8-9979-A5D7A3C6731F}"/>
              </a:ext>
            </a:extLst>
          </p:cNvPr>
          <p:cNvSpPr>
            <a:spLocks noGrp="1"/>
          </p:cNvSpPr>
          <p:nvPr/>
        </p:nvSpPr>
        <p:spPr>
          <a:xfrm>
            <a:off x="5067300" y="2343150"/>
            <a:ext cx="18097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70944-BBD5-483E-B957-46299126C624}"/>
              </a:ext>
            </a:extLst>
          </p:cNvPr>
          <p:cNvSpPr>
            <a:spLocks noGrp="1"/>
          </p:cNvSpPr>
          <p:nvPr/>
        </p:nvSpPr>
        <p:spPr>
          <a:xfrm>
            <a:off x="5219700" y="249555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23,007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DF1CF-C979-44A6-86E7-615F490A886C}"/>
              </a:ext>
            </a:extLst>
          </p:cNvPr>
          <p:cNvSpPr>
            <a:spLocks noGrp="1"/>
          </p:cNvSpPr>
          <p:nvPr/>
        </p:nvSpPr>
        <p:spPr>
          <a:xfrm>
            <a:off x="5219700" y="28384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unique artists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F9023-CC78-44A7-9B44-68EE49241030}"/>
              </a:ext>
            </a:extLst>
          </p:cNvPr>
          <p:cNvSpPr>
            <a:spLocks noGrp="1"/>
          </p:cNvSpPr>
          <p:nvPr/>
        </p:nvSpPr>
        <p:spPr>
          <a:xfrm>
            <a:off x="7143750" y="2343150"/>
            <a:ext cx="1952625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97182-4185-42AC-AAE5-DFB73132BDC5}"/>
              </a:ext>
            </a:extLst>
          </p:cNvPr>
          <p:cNvSpPr>
            <a:spLocks noGrp="1"/>
          </p:cNvSpPr>
          <p:nvPr/>
        </p:nvSpPr>
        <p:spPr>
          <a:xfrm>
            <a:off x="7296150" y="2495550"/>
            <a:ext cx="16478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E123C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159,093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1BC0C7-AE8F-4CB7-9836-4DB0415BE0B7}"/>
              </a:ext>
            </a:extLst>
          </p:cNvPr>
          <p:cNvSpPr>
            <a:spLocks noGrp="1"/>
          </p:cNvSpPr>
          <p:nvPr/>
        </p:nvSpPr>
        <p:spPr>
          <a:xfrm>
            <a:off x="7296150" y="2838450"/>
            <a:ext cx="16478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unique tracks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EDE21-1C68-414C-BD66-F778C90D8F93}"/>
              </a:ext>
            </a:extLst>
          </p:cNvPr>
          <p:cNvSpPr>
            <a:spLocks noGrp="1"/>
          </p:cNvSpPr>
          <p:nvPr/>
        </p:nvSpPr>
        <p:spPr>
          <a:xfrm>
            <a:off x="9372600" y="2343150"/>
            <a:ext cx="17145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0317D1-8444-40BC-AE45-2C83A8BAB61E}"/>
              </a:ext>
            </a:extLst>
          </p:cNvPr>
          <p:cNvSpPr>
            <a:spLocks noGrp="1"/>
          </p:cNvSpPr>
          <p:nvPr/>
        </p:nvSpPr>
        <p:spPr>
          <a:xfrm>
            <a:off x="9525000" y="2495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D28D9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66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E21A4F-14FF-4215-8B94-1513FEE98A71}"/>
              </a:ext>
            </a:extLst>
          </p:cNvPr>
          <p:cNvSpPr>
            <a:spLocks noGrp="1"/>
          </p:cNvSpPr>
          <p:nvPr/>
        </p:nvSpPr>
        <p:spPr>
          <a:xfrm>
            <a:off x="9525000" y="28384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profile countries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71E99A-B52E-4317-94BD-BDE29E186586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Top profile countries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CF1139-2901-488B-BC45-0E1E2262316F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United States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B623E0-1C6C-4D8E-92B2-407FD716DAC7}"/>
              </a:ext>
            </a:extLst>
          </p:cNvPr>
          <p:cNvSpPr>
            <a:spLocks noGrp="1"/>
          </p:cNvSpPr>
          <p:nvPr/>
        </p:nvSpPr>
        <p:spPr>
          <a:xfrm>
            <a:off x="2266950" y="4362450"/>
            <a:ext cx="37147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27859E-1011-4755-9DB0-C4F458AF157D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228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89CA0-15AF-4D39-B3DF-9EE92D119709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United Kingdom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0E4987-D7FA-450E-9D56-6A436145E1B9}"/>
              </a:ext>
            </a:extLst>
          </p:cNvPr>
          <p:cNvSpPr>
            <a:spLocks noGrp="1"/>
          </p:cNvSpPr>
          <p:nvPr/>
        </p:nvSpPr>
        <p:spPr>
          <a:xfrm>
            <a:off x="2266950" y="4648200"/>
            <a:ext cx="2052888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9D92E-F116-4E01-86BF-CF0A5A846FE9}"/>
              </a:ext>
            </a:extLst>
          </p:cNvPr>
          <p:cNvSpPr>
            <a:spLocks noGrp="1"/>
          </p:cNvSpPr>
          <p:nvPr/>
        </p:nvSpPr>
        <p:spPr>
          <a:xfrm>
            <a:off x="4415088" y="46196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E51F5C-6AA9-454F-ADB3-A22707EC2130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Poland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4DF119-AAB4-489E-926C-6410735332D2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14638" cy="1333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356C3B-C3AA-4110-B4BA-7BE669193BD2}"/>
              </a:ext>
            </a:extLst>
          </p:cNvPr>
          <p:cNvSpPr>
            <a:spLocks noGrp="1"/>
          </p:cNvSpPr>
          <p:nvPr/>
        </p:nvSpPr>
        <p:spPr>
          <a:xfrm>
            <a:off x="3176838" y="49053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B9B6BD-7C80-49CC-8038-D3A79C9C8ED4}"/>
              </a:ext>
            </a:extLst>
          </p:cNvPr>
          <p:cNvSpPr>
            <a:spLocks noGrp="1"/>
          </p:cNvSpPr>
          <p:nvPr/>
        </p:nvSpPr>
        <p:spPr>
          <a:xfrm>
            <a:off x="838200" y="52006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Germany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2CE72D-A44C-4BEF-A512-6E75D179635B}"/>
              </a:ext>
            </a:extLst>
          </p:cNvPr>
          <p:cNvSpPr>
            <a:spLocks noGrp="1"/>
          </p:cNvSpPr>
          <p:nvPr/>
        </p:nvSpPr>
        <p:spPr>
          <a:xfrm>
            <a:off x="2266950" y="5219700"/>
            <a:ext cx="586539" cy="1333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149827-2E74-4F96-BF49-E7C123B3DEC2}"/>
              </a:ext>
            </a:extLst>
          </p:cNvPr>
          <p:cNvSpPr>
            <a:spLocks noGrp="1"/>
          </p:cNvSpPr>
          <p:nvPr/>
        </p:nvSpPr>
        <p:spPr>
          <a:xfrm>
            <a:off x="2948739" y="51911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D6AC4D-ACB6-4F60-AADF-ABB100DF496B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Norway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DADBD1-D38C-4BE0-8815-E33E1D5BDF31}"/>
              </a:ext>
            </a:extLst>
          </p:cNvPr>
          <p:cNvSpPr>
            <a:spLocks noGrp="1"/>
          </p:cNvSpPr>
          <p:nvPr/>
        </p:nvSpPr>
        <p:spPr>
          <a:xfrm>
            <a:off x="2266950" y="5505450"/>
            <a:ext cx="570247" cy="1333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D6D76-F641-4389-82B2-F20A41852CF4}"/>
              </a:ext>
            </a:extLst>
          </p:cNvPr>
          <p:cNvSpPr>
            <a:spLocks noGrp="1"/>
          </p:cNvSpPr>
          <p:nvPr/>
        </p:nvSpPr>
        <p:spPr>
          <a:xfrm>
            <a:off x="2932447" y="54768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74A7AC-560D-4CE6-BE3F-48D5D634B117}"/>
              </a:ext>
            </a:extLst>
          </p:cNvPr>
          <p:cNvSpPr>
            <a:spLocks noGrp="1"/>
          </p:cNvSpPr>
          <p:nvPr/>
        </p:nvSpPr>
        <p:spPr>
          <a:xfrm>
            <a:off x="838200" y="57721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Canada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21389A-5137-4B1C-A5E4-ADCB1534609D}"/>
              </a:ext>
            </a:extLst>
          </p:cNvPr>
          <p:cNvSpPr>
            <a:spLocks noGrp="1"/>
          </p:cNvSpPr>
          <p:nvPr/>
        </p:nvSpPr>
        <p:spPr>
          <a:xfrm>
            <a:off x="2266950" y="5791200"/>
            <a:ext cx="521368" cy="1333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AFC05E8-812E-41A8-8C13-12B9D1D88A9E}"/>
              </a:ext>
            </a:extLst>
          </p:cNvPr>
          <p:cNvSpPr>
            <a:spLocks noGrp="1"/>
          </p:cNvSpPr>
          <p:nvPr/>
        </p:nvSpPr>
        <p:spPr>
          <a:xfrm>
            <a:off x="2883568" y="57626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3D84DA-B192-474C-8FDC-7BF310A62B45}"/>
              </a:ext>
            </a:extLst>
          </p:cNvPr>
          <p:cNvSpPr>
            <a:spLocks noGrp="1"/>
          </p:cNvSpPr>
          <p:nvPr/>
        </p:nvSpPr>
        <p:spPr>
          <a:xfrm>
            <a:off x="7334250" y="4171950"/>
            <a:ext cx="3143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This sample is large enough to show Spark loading, cleaning, joins, aggregations, feature preparation, and model training.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9946F5-EBFA-4B76-99F5-48CBD0E3F2A1}"/>
              </a:ext>
            </a:extLst>
          </p:cNvPr>
          <p:cNvSpPr>
            <a:spLocks noGrp="1"/>
          </p:cNvSpPr>
          <p:nvPr/>
        </p:nvSpPr>
        <p:spPr>
          <a:xfrm>
            <a:off x="7124700" y="4057650"/>
            <a:ext cx="47625" cy="1181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B990D7-F93B-405B-8D5B-9E5C3576C2A5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921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5">
            <a:extLst>
              <a:ext uri="{FF2B5EF4-FFF2-40B4-BE49-F238E27FC236}">
                <a16:creationId xmlns:a16="http://schemas.microsoft.com/office/drawing/2014/main" id="{3ACDFE6D-95DA-4272-BD2F-A70C1343FD8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5">
            <a:extLst>
              <a:ext uri="{FF2B5EF4-FFF2-40B4-BE49-F238E27FC236}">
                <a16:creationId xmlns:a16="http://schemas.microsoft.com/office/drawing/2014/main" id="{23F53A9E-2E29-4027-B9FE-B431B2F1FBB4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916618-795C-4F3D-85B6-A2FB2434AFF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Big Data Analytics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BE479-5171-4E57-A470-E70BA61211AA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aggregations are used to find the most listened artists and tracks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714B6-C79B-454F-901F-9E6C3C25479B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Kanye West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FC82D-4E06-4A6A-8738-717FAEBC5036}"/>
              </a:ext>
            </a:extLst>
          </p:cNvPr>
          <p:cNvSpPr>
            <a:spLocks noGrp="1"/>
          </p:cNvSpPr>
          <p:nvPr/>
        </p:nvSpPr>
        <p:spPr>
          <a:xfrm>
            <a:off x="2228850" y="2514600"/>
            <a:ext cx="37147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02EFBC-82FF-40F1-8736-13853C6E1DD4}"/>
              </a:ext>
            </a:extLst>
          </p:cNvPr>
          <p:cNvSpPr>
            <a:spLocks noGrp="1"/>
          </p:cNvSpPr>
          <p:nvPr/>
        </p:nvSpPr>
        <p:spPr>
          <a:xfrm>
            <a:off x="6038850" y="24860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27,267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43113-5BBF-4A63-8E46-D71A023BA13A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Dir En Grey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F741A-447C-44F4-8856-3D22BBD493D8}"/>
              </a:ext>
            </a:extLst>
          </p:cNvPr>
          <p:cNvSpPr>
            <a:spLocks noGrp="1"/>
          </p:cNvSpPr>
          <p:nvPr/>
        </p:nvSpPr>
        <p:spPr>
          <a:xfrm>
            <a:off x="2228850" y="2914650"/>
            <a:ext cx="1635651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8610A-CAAA-43A0-8C1D-8BF6FD43DF71}"/>
              </a:ext>
            </a:extLst>
          </p:cNvPr>
          <p:cNvSpPr>
            <a:spLocks noGrp="1"/>
          </p:cNvSpPr>
          <p:nvPr/>
        </p:nvSpPr>
        <p:spPr>
          <a:xfrm>
            <a:off x="3959751" y="28860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12,006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0AD68-AAB2-4EAA-B6F4-B3278DA2F2B2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Radiohead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2D9FD-1D3C-4CCE-9BCB-832A7A73862C}"/>
              </a:ext>
            </a:extLst>
          </p:cNvPr>
          <p:cNvSpPr>
            <a:spLocks noGrp="1"/>
          </p:cNvSpPr>
          <p:nvPr/>
        </p:nvSpPr>
        <p:spPr>
          <a:xfrm>
            <a:off x="2228850" y="3314700"/>
            <a:ext cx="975042" cy="1333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AC97F9-5EAA-4BFC-8315-DCEEEEDDC9B6}"/>
              </a:ext>
            </a:extLst>
          </p:cNvPr>
          <p:cNvSpPr>
            <a:spLocks noGrp="1"/>
          </p:cNvSpPr>
          <p:nvPr/>
        </p:nvSpPr>
        <p:spPr>
          <a:xfrm>
            <a:off x="3299142" y="32861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7,157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314E54-A7D0-4552-A4C2-C5457338D7B1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Nine Inch Nails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6720E1-A019-4948-BAE0-74CA610E899D}"/>
              </a:ext>
            </a:extLst>
          </p:cNvPr>
          <p:cNvSpPr>
            <a:spLocks noGrp="1"/>
          </p:cNvSpPr>
          <p:nvPr/>
        </p:nvSpPr>
        <p:spPr>
          <a:xfrm>
            <a:off x="2228850" y="3714750"/>
            <a:ext cx="914281" cy="1333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59CE71-BF8B-430E-9ECD-3B0BD75F3EDC}"/>
              </a:ext>
            </a:extLst>
          </p:cNvPr>
          <p:cNvSpPr>
            <a:spLocks noGrp="1"/>
          </p:cNvSpPr>
          <p:nvPr/>
        </p:nvSpPr>
        <p:spPr>
          <a:xfrm>
            <a:off x="3238381" y="36861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6,711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2844E1-B6D9-4538-9B1C-A912572D9CA4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E1133B-A1F4-462D-BBC8-97955641FDE1}"/>
              </a:ext>
            </a:extLst>
          </p:cNvPr>
          <p:cNvSpPr>
            <a:spLocks noGrp="1"/>
          </p:cNvSpPr>
          <p:nvPr/>
        </p:nvSpPr>
        <p:spPr>
          <a:xfrm>
            <a:off x="2228850" y="4114800"/>
            <a:ext cx="824501" cy="1333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7B6F27-B1D9-4DE6-8B6B-3648FB817409}"/>
              </a:ext>
            </a:extLst>
          </p:cNvPr>
          <p:cNvSpPr>
            <a:spLocks noGrp="1"/>
          </p:cNvSpPr>
          <p:nvPr/>
        </p:nvSpPr>
        <p:spPr>
          <a:xfrm>
            <a:off x="3148601" y="40862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6,052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84E74-A815-4E8A-B168-632BEAF48D3A}"/>
              </a:ext>
            </a:extLst>
          </p:cNvPr>
          <p:cNvSpPr>
            <a:spLocks noGrp="1"/>
          </p:cNvSpPr>
          <p:nvPr/>
        </p:nvSpPr>
        <p:spPr>
          <a:xfrm>
            <a:off x="800100" y="44958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T.I.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89063D-3721-4B15-BFB3-1090D3CD8DB4}"/>
              </a:ext>
            </a:extLst>
          </p:cNvPr>
          <p:cNvSpPr>
            <a:spLocks noGrp="1"/>
          </p:cNvSpPr>
          <p:nvPr/>
        </p:nvSpPr>
        <p:spPr>
          <a:xfrm>
            <a:off x="2228850" y="4514850"/>
            <a:ext cx="734858" cy="1333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C304FC-22D1-46BE-9656-D22A5EB06D32}"/>
              </a:ext>
            </a:extLst>
          </p:cNvPr>
          <p:cNvSpPr>
            <a:spLocks noGrp="1"/>
          </p:cNvSpPr>
          <p:nvPr/>
        </p:nvSpPr>
        <p:spPr>
          <a:xfrm>
            <a:off x="3058958" y="44862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5,394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259B3-C58A-4930-B342-358264270FDB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2286000" cy="4000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7A7594-A84D-49FA-935C-53CB026A1750}"/>
              </a:ext>
            </a:extLst>
          </p:cNvPr>
          <p:cNvSpPr>
            <a:spLocks noGrp="1"/>
          </p:cNvSpPr>
          <p:nvPr/>
        </p:nvSpPr>
        <p:spPr>
          <a:xfrm>
            <a:off x="7219950" y="253365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Top track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A82D79-55A2-405F-9EE5-784E91220EBC}"/>
              </a:ext>
            </a:extLst>
          </p:cNvPr>
          <p:cNvSpPr>
            <a:spLocks noGrp="1"/>
          </p:cNvSpPr>
          <p:nvPr/>
        </p:nvSpPr>
        <p:spPr>
          <a:xfrm>
            <a:off x="9429750" y="2476500"/>
            <a:ext cx="1428750" cy="4000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FAD6FE-F424-4D21-8BA9-B138CC6AFD47}"/>
              </a:ext>
            </a:extLst>
          </p:cNvPr>
          <p:cNvSpPr>
            <a:spLocks noGrp="1"/>
          </p:cNvSpPr>
          <p:nvPr/>
        </p:nvSpPr>
        <p:spPr>
          <a:xfrm>
            <a:off x="9505950" y="253365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Artist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734537-286A-41A7-A75D-F28D5178BCC7}"/>
              </a:ext>
            </a:extLst>
          </p:cNvPr>
          <p:cNvSpPr>
            <a:spLocks noGrp="1"/>
          </p:cNvSpPr>
          <p:nvPr/>
        </p:nvSpPr>
        <p:spPr>
          <a:xfrm>
            <a:off x="10858500" y="2476500"/>
            <a:ext cx="857250" cy="4000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82B05B-E619-4052-9E03-32C4CDC3080F}"/>
              </a:ext>
            </a:extLst>
          </p:cNvPr>
          <p:cNvSpPr>
            <a:spLocks noGrp="1"/>
          </p:cNvSpPr>
          <p:nvPr/>
        </p:nvSpPr>
        <p:spPr>
          <a:xfrm>
            <a:off x="10934700" y="2533650"/>
            <a:ext cx="70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Events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C80CB-9C9B-4C39-BB99-02516EA783E4}"/>
              </a:ext>
            </a:extLst>
          </p:cNvPr>
          <p:cNvSpPr>
            <a:spLocks noGrp="1"/>
          </p:cNvSpPr>
          <p:nvPr/>
        </p:nvSpPr>
        <p:spPr>
          <a:xfrm>
            <a:off x="7143750" y="2876550"/>
            <a:ext cx="228600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F6EF5E-FBFE-449E-B5BA-B99AC7D4807D}"/>
              </a:ext>
            </a:extLst>
          </p:cNvPr>
          <p:cNvSpPr>
            <a:spLocks noGrp="1"/>
          </p:cNvSpPr>
          <p:nvPr/>
        </p:nvSpPr>
        <p:spPr>
          <a:xfrm>
            <a:off x="7219950" y="2933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See You In My Nightmares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DF52B7-760B-4C6F-ABAA-2FB949930227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142875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C9F5CF-83C8-4097-9474-9F1D0CE3E551}"/>
              </a:ext>
            </a:extLst>
          </p:cNvPr>
          <p:cNvSpPr>
            <a:spLocks noGrp="1"/>
          </p:cNvSpPr>
          <p:nvPr/>
        </p:nvSpPr>
        <p:spPr>
          <a:xfrm>
            <a:off x="9505950" y="293370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Kanye West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72A42A-EC67-4803-8D06-E027E82338C0}"/>
              </a:ext>
            </a:extLst>
          </p:cNvPr>
          <p:cNvSpPr>
            <a:spLocks noGrp="1"/>
          </p:cNvSpPr>
          <p:nvPr/>
        </p:nvSpPr>
        <p:spPr>
          <a:xfrm>
            <a:off x="10858500" y="2876550"/>
            <a:ext cx="85725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468C02-E5F7-435F-AF11-AF16F555D477}"/>
              </a:ext>
            </a:extLst>
          </p:cNvPr>
          <p:cNvSpPr>
            <a:spLocks noGrp="1"/>
          </p:cNvSpPr>
          <p:nvPr/>
        </p:nvSpPr>
        <p:spPr>
          <a:xfrm>
            <a:off x="10934700" y="2933700"/>
            <a:ext cx="70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2,069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6C4BC4-2BA1-4FD1-8E5E-E9B46A0CED91}"/>
              </a:ext>
            </a:extLst>
          </p:cNvPr>
          <p:cNvSpPr>
            <a:spLocks noGrp="1"/>
          </p:cNvSpPr>
          <p:nvPr/>
        </p:nvSpPr>
        <p:spPr>
          <a:xfrm>
            <a:off x="7143750" y="3276600"/>
            <a:ext cx="228600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CBA845-E9CB-4C03-AA9B-74B1AFA9A6F5}"/>
              </a:ext>
            </a:extLst>
          </p:cNvPr>
          <p:cNvSpPr>
            <a:spLocks noGrp="1"/>
          </p:cNvSpPr>
          <p:nvPr/>
        </p:nvSpPr>
        <p:spPr>
          <a:xfrm>
            <a:off x="7219950" y="333375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Say You Will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A65CBF-6165-473E-BBCD-C4C205694CDB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42875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D9E727-E2CE-485A-8EE6-5EFFC8A974B3}"/>
              </a:ext>
            </a:extLst>
          </p:cNvPr>
          <p:cNvSpPr>
            <a:spLocks noGrp="1"/>
          </p:cNvSpPr>
          <p:nvPr/>
        </p:nvSpPr>
        <p:spPr>
          <a:xfrm>
            <a:off x="9505950" y="333375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Kanye West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AF0D5B-BF6F-46C8-B05D-EC194B28995A}"/>
              </a:ext>
            </a:extLst>
          </p:cNvPr>
          <p:cNvSpPr>
            <a:spLocks noGrp="1"/>
          </p:cNvSpPr>
          <p:nvPr/>
        </p:nvSpPr>
        <p:spPr>
          <a:xfrm>
            <a:off x="10858500" y="3276600"/>
            <a:ext cx="85725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350856-C7AE-461A-85C4-B97CB7E3CC41}"/>
              </a:ext>
            </a:extLst>
          </p:cNvPr>
          <p:cNvSpPr>
            <a:spLocks noGrp="1"/>
          </p:cNvSpPr>
          <p:nvPr/>
        </p:nvSpPr>
        <p:spPr>
          <a:xfrm>
            <a:off x="10934700" y="3333750"/>
            <a:ext cx="70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2,065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7CC183-8798-46A2-8937-2968BCEB5E87}"/>
              </a:ext>
            </a:extLst>
          </p:cNvPr>
          <p:cNvSpPr>
            <a:spLocks noGrp="1"/>
          </p:cNvSpPr>
          <p:nvPr/>
        </p:nvSpPr>
        <p:spPr>
          <a:xfrm>
            <a:off x="7143750" y="3676650"/>
            <a:ext cx="228600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9AFA8B-4A66-488B-944F-05460A46056E}"/>
              </a:ext>
            </a:extLst>
          </p:cNvPr>
          <p:cNvSpPr>
            <a:spLocks noGrp="1"/>
          </p:cNvSpPr>
          <p:nvPr/>
        </p:nvSpPr>
        <p:spPr>
          <a:xfrm>
            <a:off x="7219950" y="37338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Heartless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93C9CC-A085-429D-80E6-59CF85E0DAE2}"/>
              </a:ext>
            </a:extLst>
          </p:cNvPr>
          <p:cNvSpPr>
            <a:spLocks noGrp="1"/>
          </p:cNvSpPr>
          <p:nvPr/>
        </p:nvSpPr>
        <p:spPr>
          <a:xfrm>
            <a:off x="9429750" y="3676650"/>
            <a:ext cx="142875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8556D8-DC13-445D-B36F-D1CC6E9E5C6B}"/>
              </a:ext>
            </a:extLst>
          </p:cNvPr>
          <p:cNvSpPr>
            <a:spLocks noGrp="1"/>
          </p:cNvSpPr>
          <p:nvPr/>
        </p:nvSpPr>
        <p:spPr>
          <a:xfrm>
            <a:off x="9505950" y="373380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Kanye West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23CBB2-EEE7-4050-A172-9C753F5B2F07}"/>
              </a:ext>
            </a:extLst>
          </p:cNvPr>
          <p:cNvSpPr>
            <a:spLocks noGrp="1"/>
          </p:cNvSpPr>
          <p:nvPr/>
        </p:nvSpPr>
        <p:spPr>
          <a:xfrm>
            <a:off x="10858500" y="3676650"/>
            <a:ext cx="857250" cy="4000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C87AEF-18DE-4509-ACB5-53EB73AD1949}"/>
              </a:ext>
            </a:extLst>
          </p:cNvPr>
          <p:cNvSpPr>
            <a:spLocks noGrp="1"/>
          </p:cNvSpPr>
          <p:nvPr/>
        </p:nvSpPr>
        <p:spPr>
          <a:xfrm>
            <a:off x="10934700" y="3733800"/>
            <a:ext cx="70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2,063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A7309D-4DA1-457C-8C1B-7F7CF2874F35}"/>
              </a:ext>
            </a:extLst>
          </p:cNvPr>
          <p:cNvSpPr>
            <a:spLocks noGrp="1"/>
          </p:cNvSpPr>
          <p:nvPr/>
        </p:nvSpPr>
        <p:spPr>
          <a:xfrm>
            <a:off x="7143750" y="4076700"/>
            <a:ext cx="228600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D727B8-98D3-43C3-A152-8B15727EB912}"/>
              </a:ext>
            </a:extLst>
          </p:cNvPr>
          <p:cNvSpPr>
            <a:spLocks noGrp="1"/>
          </p:cNvSpPr>
          <p:nvPr/>
        </p:nvSpPr>
        <p:spPr>
          <a:xfrm>
            <a:off x="7219950" y="413385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Love Lockdown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6485D95-FDA7-4F29-ADDD-603E49902244}"/>
              </a:ext>
            </a:extLst>
          </p:cNvPr>
          <p:cNvSpPr>
            <a:spLocks noGrp="1"/>
          </p:cNvSpPr>
          <p:nvPr/>
        </p:nvSpPr>
        <p:spPr>
          <a:xfrm>
            <a:off x="9429750" y="4076700"/>
            <a:ext cx="142875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6769161-9C56-4E44-A8C5-7DF12EACC487}"/>
              </a:ext>
            </a:extLst>
          </p:cNvPr>
          <p:cNvSpPr>
            <a:spLocks noGrp="1"/>
          </p:cNvSpPr>
          <p:nvPr/>
        </p:nvSpPr>
        <p:spPr>
          <a:xfrm>
            <a:off x="9505950" y="413385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Kanye West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4470A8-A752-4C72-AA53-443633C44295}"/>
              </a:ext>
            </a:extLst>
          </p:cNvPr>
          <p:cNvSpPr>
            <a:spLocks noGrp="1"/>
          </p:cNvSpPr>
          <p:nvPr/>
        </p:nvSpPr>
        <p:spPr>
          <a:xfrm>
            <a:off x="10858500" y="4076700"/>
            <a:ext cx="857250" cy="4000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96EB6E-58D0-4CA5-B577-32647AD7E19B}"/>
              </a:ext>
            </a:extLst>
          </p:cNvPr>
          <p:cNvSpPr>
            <a:spLocks noGrp="1"/>
          </p:cNvSpPr>
          <p:nvPr/>
        </p:nvSpPr>
        <p:spPr>
          <a:xfrm>
            <a:off x="10934700" y="4133850"/>
            <a:ext cx="704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2,062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323238-DA0D-4830-9D61-CFD7982753DE}"/>
              </a:ext>
            </a:extLst>
          </p:cNvPr>
          <p:cNvSpPr>
            <a:spLocks noGrp="1"/>
          </p:cNvSpPr>
          <p:nvPr/>
        </p:nvSpPr>
        <p:spPr>
          <a:xfrm>
            <a:off x="1714500" y="5257800"/>
            <a:ext cx="8572500" cy="66675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E8DA96-21E0-4CAC-8328-DFBC67934EFB}"/>
              </a:ext>
            </a:extLst>
          </p:cNvPr>
          <p:cNvSpPr>
            <a:spLocks noGrp="1"/>
          </p:cNvSpPr>
          <p:nvPr/>
        </p:nvSpPr>
        <p:spPr>
          <a:xfrm>
            <a:off x="1714500" y="5257800"/>
            <a:ext cx="47625" cy="666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BA38E5-C903-4C36-8587-15DEFBB39333}"/>
              </a:ext>
            </a:extLst>
          </p:cNvPr>
          <p:cNvSpPr>
            <a:spLocks noGrp="1"/>
          </p:cNvSpPr>
          <p:nvPr/>
        </p:nvSpPr>
        <p:spPr>
          <a:xfrm>
            <a:off x="1885950" y="5391150"/>
            <a:ext cx="828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Finding: a small group of artists and tracks receives many repeated listens, so play count is useful as implicit feedback.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8E305E-9BB0-4602-B59C-445BE3E5C0B8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200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6">
            <a:extLst>
              <a:ext uri="{FF2B5EF4-FFF2-40B4-BE49-F238E27FC236}">
                <a16:creationId xmlns:a16="http://schemas.microsoft.com/office/drawing/2014/main" id="{8956A0B1-B8D7-4DF0-8E33-5BB7BAA7A91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6">
            <a:extLst>
              <a:ext uri="{FF2B5EF4-FFF2-40B4-BE49-F238E27FC236}">
                <a16:creationId xmlns:a16="http://schemas.microsoft.com/office/drawing/2014/main" id="{E77C5564-A24D-42E6-AC7D-4D3628AD7F1C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63528-8939-4F51-9F6B-1EFEBE4456D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Listening Time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5CBEC-F722-4C07-A82E-1B6A231433F8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Timestamp features are used to compare listening activity by day and hour.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21D8C-9554-4FDD-8975-06E9411DE208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Listening events by day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D5B07B-68CE-4423-B522-9433486FA1C7}"/>
              </a:ext>
            </a:extLst>
          </p:cNvPr>
          <p:cNvSpPr>
            <a:spLocks noGrp="1"/>
          </p:cNvSpPr>
          <p:nvPr/>
        </p:nvSpPr>
        <p:spPr>
          <a:xfrm>
            <a:off x="895350" y="2962290"/>
            <a:ext cx="495300" cy="1704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8FC17-A0AB-45A7-96B8-EF6BEFEDAD52}"/>
              </a:ext>
            </a:extLst>
          </p:cNvPr>
          <p:cNvSpPr>
            <a:spLocks noGrp="1"/>
          </p:cNvSpPr>
          <p:nvPr/>
        </p:nvSpPr>
        <p:spPr>
          <a:xfrm>
            <a:off x="8477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73EB8-9688-4F0D-8AF0-35E6A5F9EDED}"/>
              </a:ext>
            </a:extLst>
          </p:cNvPr>
          <p:cNvSpPr>
            <a:spLocks noGrp="1"/>
          </p:cNvSpPr>
          <p:nvPr/>
        </p:nvSpPr>
        <p:spPr>
          <a:xfrm>
            <a:off x="1543050" y="2944475"/>
            <a:ext cx="495300" cy="17227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B70A4-65F1-4638-A3AA-63091B8A5709}"/>
              </a:ext>
            </a:extLst>
          </p:cNvPr>
          <p:cNvSpPr>
            <a:spLocks noGrp="1"/>
          </p:cNvSpPr>
          <p:nvPr/>
        </p:nvSpPr>
        <p:spPr>
          <a:xfrm>
            <a:off x="14954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E9A9E-E9F7-42BD-A3DA-6B06D48B2219}"/>
              </a:ext>
            </a:extLst>
          </p:cNvPr>
          <p:cNvSpPr>
            <a:spLocks noGrp="1"/>
          </p:cNvSpPr>
          <p:nvPr/>
        </p:nvSpPr>
        <p:spPr>
          <a:xfrm>
            <a:off x="2190750" y="3003785"/>
            <a:ext cx="495300" cy="166346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1F0AC-1D07-48A8-B0D1-EC6124008322}"/>
              </a:ext>
            </a:extLst>
          </p:cNvPr>
          <p:cNvSpPr>
            <a:spLocks noGrp="1"/>
          </p:cNvSpPr>
          <p:nvPr/>
        </p:nvSpPr>
        <p:spPr>
          <a:xfrm>
            <a:off x="21431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Wed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A317C8-56E5-4BCB-9263-4FD86171D6FD}"/>
              </a:ext>
            </a:extLst>
          </p:cNvPr>
          <p:cNvSpPr>
            <a:spLocks noGrp="1"/>
          </p:cNvSpPr>
          <p:nvPr/>
        </p:nvSpPr>
        <p:spPr>
          <a:xfrm>
            <a:off x="2838450" y="2995216"/>
            <a:ext cx="495300" cy="167203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0ED81E-D8BB-4585-9439-07F38270F9CB}"/>
              </a:ext>
            </a:extLst>
          </p:cNvPr>
          <p:cNvSpPr>
            <a:spLocks noGrp="1"/>
          </p:cNvSpPr>
          <p:nvPr/>
        </p:nvSpPr>
        <p:spPr>
          <a:xfrm>
            <a:off x="27908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5C1071-094A-473B-B2E7-761EBF85AFED}"/>
              </a:ext>
            </a:extLst>
          </p:cNvPr>
          <p:cNvSpPr>
            <a:spLocks noGrp="1"/>
          </p:cNvSpPr>
          <p:nvPr/>
        </p:nvSpPr>
        <p:spPr>
          <a:xfrm>
            <a:off x="3486150" y="2970509"/>
            <a:ext cx="495300" cy="1696741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18A72-043E-41BE-867B-425765E70E25}"/>
              </a:ext>
            </a:extLst>
          </p:cNvPr>
          <p:cNvSpPr>
            <a:spLocks noGrp="1"/>
          </p:cNvSpPr>
          <p:nvPr/>
        </p:nvSpPr>
        <p:spPr>
          <a:xfrm>
            <a:off x="34385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Fri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391A99-DCFA-4124-BA3B-01DC831EE4E9}"/>
              </a:ext>
            </a:extLst>
          </p:cNvPr>
          <p:cNvSpPr>
            <a:spLocks noGrp="1"/>
          </p:cNvSpPr>
          <p:nvPr/>
        </p:nvSpPr>
        <p:spPr>
          <a:xfrm>
            <a:off x="4133850" y="2867228"/>
            <a:ext cx="495300" cy="1800022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9CC562-6931-4C31-A07C-83EF18FD0082}"/>
              </a:ext>
            </a:extLst>
          </p:cNvPr>
          <p:cNvSpPr>
            <a:spLocks noGrp="1"/>
          </p:cNvSpPr>
          <p:nvPr/>
        </p:nvSpPr>
        <p:spPr>
          <a:xfrm>
            <a:off x="40862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209F96-DC00-4478-A793-779F34645AA2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495300" cy="1809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6CF45-3158-4CC4-A2BB-143BC2AFA1DF}"/>
              </a:ext>
            </a:extLst>
          </p:cNvPr>
          <p:cNvSpPr>
            <a:spLocks noGrp="1"/>
          </p:cNvSpPr>
          <p:nvPr/>
        </p:nvSpPr>
        <p:spPr>
          <a:xfrm>
            <a:off x="4733925" y="476250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E450F-7780-4465-A681-F13FD1EBA7CF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Evening activity by hour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C66490-80C3-4A53-B1FE-4C9B19540588}"/>
              </a:ext>
            </a:extLst>
          </p:cNvPr>
          <p:cNvSpPr>
            <a:spLocks noGrp="1"/>
          </p:cNvSpPr>
          <p:nvPr/>
        </p:nvSpPr>
        <p:spPr>
          <a:xfrm>
            <a:off x="6629400" y="3121149"/>
            <a:ext cx="443593" cy="1546101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C5BBA3-6D01-42BD-BDBE-8F3DBEF8CF84}"/>
              </a:ext>
            </a:extLst>
          </p:cNvPr>
          <p:cNvSpPr>
            <a:spLocks noGrp="1"/>
          </p:cNvSpPr>
          <p:nvPr/>
        </p:nvSpPr>
        <p:spPr>
          <a:xfrm>
            <a:off x="6581775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DEAAE2-433F-470B-827D-FBD6CDA3642E}"/>
              </a:ext>
            </a:extLst>
          </p:cNvPr>
          <p:cNvSpPr>
            <a:spLocks noGrp="1"/>
          </p:cNvSpPr>
          <p:nvPr/>
        </p:nvSpPr>
        <p:spPr>
          <a:xfrm>
            <a:off x="7206343" y="3112912"/>
            <a:ext cx="443593" cy="1554338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33FE03-0258-4FF1-9404-C853686BE29C}"/>
              </a:ext>
            </a:extLst>
          </p:cNvPr>
          <p:cNvSpPr>
            <a:spLocks noGrp="1"/>
          </p:cNvSpPr>
          <p:nvPr/>
        </p:nvSpPr>
        <p:spPr>
          <a:xfrm>
            <a:off x="7158718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CF3CAE-C387-4E12-B0F9-DD616E5AE17A}"/>
              </a:ext>
            </a:extLst>
          </p:cNvPr>
          <p:cNvSpPr>
            <a:spLocks noGrp="1"/>
          </p:cNvSpPr>
          <p:nvPr/>
        </p:nvSpPr>
        <p:spPr>
          <a:xfrm>
            <a:off x="7783286" y="2974873"/>
            <a:ext cx="443593" cy="1692377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C585B-934C-44F7-B4DE-AECC0EB7AB99}"/>
              </a:ext>
            </a:extLst>
          </p:cNvPr>
          <p:cNvSpPr>
            <a:spLocks noGrp="1"/>
          </p:cNvSpPr>
          <p:nvPr/>
        </p:nvSpPr>
        <p:spPr>
          <a:xfrm>
            <a:off x="7735661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19988-47A8-4D7D-99E3-97048F989CB3}"/>
              </a:ext>
            </a:extLst>
          </p:cNvPr>
          <p:cNvSpPr>
            <a:spLocks noGrp="1"/>
          </p:cNvSpPr>
          <p:nvPr/>
        </p:nvSpPr>
        <p:spPr>
          <a:xfrm>
            <a:off x="8360229" y="2857500"/>
            <a:ext cx="443593" cy="1809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A3BB6D-25F9-409B-AF13-F3A5E75964AE}"/>
              </a:ext>
            </a:extLst>
          </p:cNvPr>
          <p:cNvSpPr>
            <a:spLocks noGrp="1"/>
          </p:cNvSpPr>
          <p:nvPr/>
        </p:nvSpPr>
        <p:spPr>
          <a:xfrm>
            <a:off x="8312604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A1C8FD-EDCC-4082-B7A0-F7E917E63DDA}"/>
              </a:ext>
            </a:extLst>
          </p:cNvPr>
          <p:cNvSpPr>
            <a:spLocks noGrp="1"/>
          </p:cNvSpPr>
          <p:nvPr/>
        </p:nvSpPr>
        <p:spPr>
          <a:xfrm>
            <a:off x="8937171" y="2930814"/>
            <a:ext cx="443593" cy="1736436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22517D-D3B4-452E-B8A0-30F3BC67AAC7}"/>
              </a:ext>
            </a:extLst>
          </p:cNvPr>
          <p:cNvSpPr>
            <a:spLocks noGrp="1"/>
          </p:cNvSpPr>
          <p:nvPr/>
        </p:nvSpPr>
        <p:spPr>
          <a:xfrm>
            <a:off x="8889546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023834-1262-456E-A306-0903B3357EEA}"/>
              </a:ext>
            </a:extLst>
          </p:cNvPr>
          <p:cNvSpPr>
            <a:spLocks noGrp="1"/>
          </p:cNvSpPr>
          <p:nvPr/>
        </p:nvSpPr>
        <p:spPr>
          <a:xfrm>
            <a:off x="9514114" y="3001548"/>
            <a:ext cx="443593" cy="1665702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051B65-7EBA-4DF7-BFA1-5AA067DA3905}"/>
              </a:ext>
            </a:extLst>
          </p:cNvPr>
          <p:cNvSpPr>
            <a:spLocks noGrp="1"/>
          </p:cNvSpPr>
          <p:nvPr/>
        </p:nvSpPr>
        <p:spPr>
          <a:xfrm>
            <a:off x="9466489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7F40B0-E9E5-4021-A181-00F9845DDB27}"/>
              </a:ext>
            </a:extLst>
          </p:cNvPr>
          <p:cNvSpPr>
            <a:spLocks noGrp="1"/>
          </p:cNvSpPr>
          <p:nvPr/>
        </p:nvSpPr>
        <p:spPr>
          <a:xfrm>
            <a:off x="10091057" y="3064515"/>
            <a:ext cx="443593" cy="160273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787FD6-1C6E-408E-9918-1EF15A1112CA}"/>
              </a:ext>
            </a:extLst>
          </p:cNvPr>
          <p:cNvSpPr>
            <a:spLocks noGrp="1"/>
          </p:cNvSpPr>
          <p:nvPr/>
        </p:nvSpPr>
        <p:spPr>
          <a:xfrm>
            <a:off x="10043432" y="4762500"/>
            <a:ext cx="53884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43B13C-5094-44CC-B36D-62612E4C6A33}"/>
              </a:ext>
            </a:extLst>
          </p:cNvPr>
          <p:cNvSpPr>
            <a:spLocks noGrp="1"/>
          </p:cNvSpPr>
          <p:nvPr/>
        </p:nvSpPr>
        <p:spPr>
          <a:xfrm>
            <a:off x="2476500" y="5219700"/>
            <a:ext cx="7239000" cy="66675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FBB4ED-C781-42ED-926E-0BAFD4AE6593}"/>
              </a:ext>
            </a:extLst>
          </p:cNvPr>
          <p:cNvSpPr>
            <a:spLocks noGrp="1"/>
          </p:cNvSpPr>
          <p:nvPr/>
        </p:nvSpPr>
        <p:spPr>
          <a:xfrm>
            <a:off x="2476500" y="5219700"/>
            <a:ext cx="47625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3DC9BA-8CEF-41D5-A78C-26399DA25DE8}"/>
              </a:ext>
            </a:extLst>
          </p:cNvPr>
          <p:cNvSpPr>
            <a:spLocks noGrp="1"/>
          </p:cNvSpPr>
          <p:nvPr/>
        </p:nvSpPr>
        <p:spPr>
          <a:xfrm>
            <a:off x="2647950" y="5353050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Result: Sunday has the highest listening volume, and 18:00 is the most active hour in the sample.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2310A2-3E33-4719-852D-6EB7BEB05BBD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718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7">
            <a:extLst>
              <a:ext uri="{FF2B5EF4-FFF2-40B4-BE49-F238E27FC236}">
                <a16:creationId xmlns:a16="http://schemas.microsoft.com/office/drawing/2014/main" id="{36932361-BE09-4442-B3B6-1444F93916C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7">
            <a:extLst>
              <a:ext uri="{FF2B5EF4-FFF2-40B4-BE49-F238E27FC236}">
                <a16:creationId xmlns:a16="http://schemas.microsoft.com/office/drawing/2014/main" id="{05A20CB9-4851-48AB-8E42-65B8F8685D9D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D734B2-95F5-4428-ADFF-6357AB8A1E7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User Segmentation With KMeans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963B70-1F4A-4C1A-8FBA-9A8F27ED2437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ML groups listeners using volume, diversity, repeat behavior, and time-based features.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7A083-F7CC-44CA-AF0F-AB54D9116CEC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952500" cy="5143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235C66-6462-4401-A05D-2AFD1798757B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80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Segment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56160B-CC61-49D6-B321-EBBE21F40F9E}"/>
              </a:ext>
            </a:extLst>
          </p:cNvPr>
          <p:cNvSpPr>
            <a:spLocks noGrp="1"/>
          </p:cNvSpPr>
          <p:nvPr/>
        </p:nvSpPr>
        <p:spPr>
          <a:xfrm>
            <a:off x="1752600" y="2476500"/>
            <a:ext cx="857250" cy="5143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75C836-5EC8-4788-A58A-07BC6F75CCB1}"/>
              </a:ext>
            </a:extLst>
          </p:cNvPr>
          <p:cNvSpPr>
            <a:spLocks noGrp="1"/>
          </p:cNvSpPr>
          <p:nvPr/>
        </p:nvSpPr>
        <p:spPr>
          <a:xfrm>
            <a:off x="1828800" y="2533650"/>
            <a:ext cx="704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Users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A68EB-BE5B-436C-8F5D-B87DCF2470AB}"/>
              </a:ext>
            </a:extLst>
          </p:cNvPr>
          <p:cNvSpPr>
            <a:spLocks noGrp="1"/>
          </p:cNvSpPr>
          <p:nvPr/>
        </p:nvSpPr>
        <p:spPr>
          <a:xfrm>
            <a:off x="2609850" y="2476500"/>
            <a:ext cx="1428750" cy="5143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CE616-2546-4E31-A68E-FA03BDE32ABD}"/>
              </a:ext>
            </a:extLst>
          </p:cNvPr>
          <p:cNvSpPr>
            <a:spLocks noGrp="1"/>
          </p:cNvSpPr>
          <p:nvPr/>
        </p:nvSpPr>
        <p:spPr>
          <a:xfrm>
            <a:off x="2686050" y="253365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Avg listens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767DB-C63F-436C-860D-A17881ECE271}"/>
              </a:ext>
            </a:extLst>
          </p:cNvPr>
          <p:cNvSpPr>
            <a:spLocks noGrp="1"/>
          </p:cNvSpPr>
          <p:nvPr/>
        </p:nvSpPr>
        <p:spPr>
          <a:xfrm>
            <a:off x="4038600" y="2476500"/>
            <a:ext cx="1428750" cy="5143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CA140A-6704-4D2E-B6C6-C1F7FE7623E8}"/>
              </a:ext>
            </a:extLst>
          </p:cNvPr>
          <p:cNvSpPr>
            <a:spLocks noGrp="1"/>
          </p:cNvSpPr>
          <p:nvPr/>
        </p:nvSpPr>
        <p:spPr>
          <a:xfrm>
            <a:off x="4114800" y="253365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Repeat 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B60F2F-BC75-4CD4-BD6E-6CDAB6ED4E62}"/>
              </a:ext>
            </a:extLst>
          </p:cNvPr>
          <p:cNvSpPr>
            <a:spLocks noGrp="1"/>
          </p:cNvSpPr>
          <p:nvPr/>
        </p:nvSpPr>
        <p:spPr>
          <a:xfrm>
            <a:off x="5467350" y="2476500"/>
            <a:ext cx="2286000" cy="51435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95793-0A40-43EF-8B90-3BC97A1D7DD0}"/>
              </a:ext>
            </a:extLst>
          </p:cNvPr>
          <p:cNvSpPr>
            <a:spLocks noGrp="1"/>
          </p:cNvSpPr>
          <p:nvPr/>
        </p:nvSpPr>
        <p:spPr>
          <a:xfrm>
            <a:off x="5543550" y="25336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6EBC56-BB09-4CF7-A51D-FF11FCF5C502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95250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0B5E83-00A9-4AA1-ABF9-BE53216D175C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80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343441-125A-46DF-99E7-8F940581D190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8572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DF3006-B6B5-40ED-98C3-8575924D1684}"/>
              </a:ext>
            </a:extLst>
          </p:cNvPr>
          <p:cNvSpPr>
            <a:spLocks noGrp="1"/>
          </p:cNvSpPr>
          <p:nvPr/>
        </p:nvSpPr>
        <p:spPr>
          <a:xfrm>
            <a:off x="1828800" y="3048000"/>
            <a:ext cx="704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336A61-0DCF-461E-B143-120316A52ABD}"/>
              </a:ext>
            </a:extLst>
          </p:cNvPr>
          <p:cNvSpPr>
            <a:spLocks noGrp="1"/>
          </p:cNvSpPr>
          <p:nvPr/>
        </p:nvSpPr>
        <p:spPr>
          <a:xfrm>
            <a:off x="2609850" y="2990850"/>
            <a:ext cx="14287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33DCC6-DBF5-4B0E-9F63-02DB4D2E6360}"/>
              </a:ext>
            </a:extLst>
          </p:cNvPr>
          <p:cNvSpPr>
            <a:spLocks noGrp="1"/>
          </p:cNvSpPr>
          <p:nvPr/>
        </p:nvSpPr>
        <p:spPr>
          <a:xfrm>
            <a:off x="2686050" y="304800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56,323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BCE142-37FA-46FB-9FC1-EBF567487E62}"/>
              </a:ext>
            </a:extLst>
          </p:cNvPr>
          <p:cNvSpPr>
            <a:spLocks noGrp="1"/>
          </p:cNvSpPr>
          <p:nvPr/>
        </p:nvSpPr>
        <p:spPr>
          <a:xfrm>
            <a:off x="4038600" y="2990850"/>
            <a:ext cx="14287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4C1BCB-F423-4B73-957F-089E85EA0480}"/>
              </a:ext>
            </a:extLst>
          </p:cNvPr>
          <p:cNvSpPr>
            <a:spLocks noGrp="1"/>
          </p:cNvSpPr>
          <p:nvPr/>
        </p:nvSpPr>
        <p:spPr>
          <a:xfrm>
            <a:off x="4114800" y="304800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0.8273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61F4CA-1D69-405B-B713-61CCCD97D6B4}"/>
              </a:ext>
            </a:extLst>
          </p:cNvPr>
          <p:cNvSpPr>
            <a:spLocks noGrp="1"/>
          </p:cNvSpPr>
          <p:nvPr/>
        </p:nvSpPr>
        <p:spPr>
          <a:xfrm>
            <a:off x="5467350" y="2990850"/>
            <a:ext cx="228600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984E64-4A69-410A-A37A-2942C72B79DA}"/>
              </a:ext>
            </a:extLst>
          </p:cNvPr>
          <p:cNvSpPr>
            <a:spLocks noGrp="1"/>
          </p:cNvSpPr>
          <p:nvPr/>
        </p:nvSpPr>
        <p:spPr>
          <a:xfrm>
            <a:off x="5543550" y="304800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Heavy listeners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CA273D-2341-41CA-A288-BD2C4F68FC32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952500" cy="5143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FFBE64-5D88-4F29-B244-8E04CE0DE710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80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89CC2D-D09A-42D5-849F-7E2976808124}"/>
              </a:ext>
            </a:extLst>
          </p:cNvPr>
          <p:cNvSpPr>
            <a:spLocks noGrp="1"/>
          </p:cNvSpPr>
          <p:nvPr/>
        </p:nvSpPr>
        <p:spPr>
          <a:xfrm>
            <a:off x="1752600" y="3505200"/>
            <a:ext cx="857250" cy="5143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5088-CAEB-41F6-9B2D-984818D6E2DD}"/>
              </a:ext>
            </a:extLst>
          </p:cNvPr>
          <p:cNvSpPr>
            <a:spLocks noGrp="1"/>
          </p:cNvSpPr>
          <p:nvPr/>
        </p:nvSpPr>
        <p:spPr>
          <a:xfrm>
            <a:off x="1828800" y="3562350"/>
            <a:ext cx="704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0BA5B9-1ABE-469B-A58F-8985A8FE0174}"/>
              </a:ext>
            </a:extLst>
          </p:cNvPr>
          <p:cNvSpPr>
            <a:spLocks noGrp="1"/>
          </p:cNvSpPr>
          <p:nvPr/>
        </p:nvSpPr>
        <p:spPr>
          <a:xfrm>
            <a:off x="2609850" y="3505200"/>
            <a:ext cx="1428750" cy="5143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FCCDA9-537A-46FB-AD25-818E673979BB}"/>
              </a:ext>
            </a:extLst>
          </p:cNvPr>
          <p:cNvSpPr>
            <a:spLocks noGrp="1"/>
          </p:cNvSpPr>
          <p:nvPr/>
        </p:nvSpPr>
        <p:spPr>
          <a:xfrm>
            <a:off x="2686050" y="356235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13,596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432BB4-53B5-4595-BF5D-333F50E221BF}"/>
              </a:ext>
            </a:extLst>
          </p:cNvPr>
          <p:cNvSpPr>
            <a:spLocks noGrp="1"/>
          </p:cNvSpPr>
          <p:nvPr/>
        </p:nvSpPr>
        <p:spPr>
          <a:xfrm>
            <a:off x="4038600" y="3505200"/>
            <a:ext cx="1428750" cy="5143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364CE4-447C-4904-B149-A292CEA6DAE2}"/>
              </a:ext>
            </a:extLst>
          </p:cNvPr>
          <p:cNvSpPr>
            <a:spLocks noGrp="1"/>
          </p:cNvSpPr>
          <p:nvPr/>
        </p:nvSpPr>
        <p:spPr>
          <a:xfrm>
            <a:off x="4114800" y="356235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0.6861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560862-76F9-49B7-9E80-2FF8B1B81C55}"/>
              </a:ext>
            </a:extLst>
          </p:cNvPr>
          <p:cNvSpPr>
            <a:spLocks noGrp="1"/>
          </p:cNvSpPr>
          <p:nvPr/>
        </p:nvSpPr>
        <p:spPr>
          <a:xfrm>
            <a:off x="5467350" y="3505200"/>
            <a:ext cx="2286000" cy="51435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C98B62-B66F-4138-B1DD-E65B602285BF}"/>
              </a:ext>
            </a:extLst>
          </p:cNvPr>
          <p:cNvSpPr>
            <a:spLocks noGrp="1"/>
          </p:cNvSpPr>
          <p:nvPr/>
        </p:nvSpPr>
        <p:spPr>
          <a:xfrm>
            <a:off x="5543550" y="35623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Balanced listeners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89B906-56F4-442F-8E00-3391A5645E8C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95250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3492DF-B9E9-4408-B02F-3E8EC1DDDA6C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800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FF20C1-9553-4FFE-AB58-6B42979B8871}"/>
              </a:ext>
            </a:extLst>
          </p:cNvPr>
          <p:cNvSpPr>
            <a:spLocks noGrp="1"/>
          </p:cNvSpPr>
          <p:nvPr/>
        </p:nvSpPr>
        <p:spPr>
          <a:xfrm>
            <a:off x="1752600" y="4019550"/>
            <a:ext cx="8572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99A88E-8068-4CBE-AC14-3838DEB75F43}"/>
              </a:ext>
            </a:extLst>
          </p:cNvPr>
          <p:cNvSpPr>
            <a:spLocks noGrp="1"/>
          </p:cNvSpPr>
          <p:nvPr/>
        </p:nvSpPr>
        <p:spPr>
          <a:xfrm>
            <a:off x="1828800" y="4076700"/>
            <a:ext cx="704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DEC10B-F37B-4FF1-AD63-23F0F227B488}"/>
              </a:ext>
            </a:extLst>
          </p:cNvPr>
          <p:cNvSpPr>
            <a:spLocks noGrp="1"/>
          </p:cNvSpPr>
          <p:nvPr/>
        </p:nvSpPr>
        <p:spPr>
          <a:xfrm>
            <a:off x="2609850" y="4019550"/>
            <a:ext cx="14287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5AA2FD-507B-4177-B46D-D4AD22776401}"/>
              </a:ext>
            </a:extLst>
          </p:cNvPr>
          <p:cNvSpPr>
            <a:spLocks noGrp="1"/>
          </p:cNvSpPr>
          <p:nvPr/>
        </p:nvSpPr>
        <p:spPr>
          <a:xfrm>
            <a:off x="2686050" y="407670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28,098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F25648-325E-4567-8673-363605EB4577}"/>
              </a:ext>
            </a:extLst>
          </p:cNvPr>
          <p:cNvSpPr>
            <a:spLocks noGrp="1"/>
          </p:cNvSpPr>
          <p:nvPr/>
        </p:nvSpPr>
        <p:spPr>
          <a:xfrm>
            <a:off x="4038600" y="4019550"/>
            <a:ext cx="142875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70450-1B36-4806-9627-E57AD9B611D9}"/>
              </a:ext>
            </a:extLst>
          </p:cNvPr>
          <p:cNvSpPr>
            <a:spLocks noGrp="1"/>
          </p:cNvSpPr>
          <p:nvPr/>
        </p:nvSpPr>
        <p:spPr>
          <a:xfrm>
            <a:off x="4114800" y="4076700"/>
            <a:ext cx="1276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0.5590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3FC335-0B72-4DE4-BF91-922AE08BD91C}"/>
              </a:ext>
            </a:extLst>
          </p:cNvPr>
          <p:cNvSpPr>
            <a:spLocks noGrp="1"/>
          </p:cNvSpPr>
          <p:nvPr/>
        </p:nvSpPr>
        <p:spPr>
          <a:xfrm>
            <a:off x="5467350" y="4019550"/>
            <a:ext cx="2286000" cy="5143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C51940-83E3-40C0-B582-CC8588517B98}"/>
              </a:ext>
            </a:extLst>
          </p:cNvPr>
          <p:cNvSpPr>
            <a:spLocks noGrp="1"/>
          </p:cNvSpPr>
          <p:nvPr/>
        </p:nvSpPr>
        <p:spPr>
          <a:xfrm>
            <a:off x="5543550" y="407670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Music explorers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AE5BF2-5345-4858-AEBA-702D2B6150AD}"/>
              </a:ext>
            </a:extLst>
          </p:cNvPr>
          <p:cNvSpPr>
            <a:spLocks noGrp="1"/>
          </p:cNvSpPr>
          <p:nvPr/>
        </p:nvSpPr>
        <p:spPr>
          <a:xfrm>
            <a:off x="86487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Feature set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D561C59-B8FC-45FC-9623-ADF1BF7BABDD}"/>
              </a:ext>
            </a:extLst>
          </p:cNvPr>
          <p:cNvSpPr>
            <a:spLocks noGrp="1"/>
          </p:cNvSpPr>
          <p:nvPr/>
        </p:nvSpPr>
        <p:spPr>
          <a:xfrm>
            <a:off x="8686800" y="2876550"/>
            <a:ext cx="95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34D6F3-D948-4DF4-AB54-8426429BA280}"/>
              </a:ext>
            </a:extLst>
          </p:cNvPr>
          <p:cNvSpPr>
            <a:spLocks noGrp="1"/>
          </p:cNvSpPr>
          <p:nvPr/>
        </p:nvSpPr>
        <p:spPr>
          <a:xfrm>
            <a:off x="8896350" y="28194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total listens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C0C188-9922-4FBF-9A56-1183F71A7D82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CA4CBD-24DF-4E60-A90E-ADEC3B470C3D}"/>
              </a:ext>
            </a:extLst>
          </p:cNvPr>
          <p:cNvSpPr>
            <a:spLocks noGrp="1"/>
          </p:cNvSpPr>
          <p:nvPr/>
        </p:nvSpPr>
        <p:spPr>
          <a:xfrm>
            <a:off x="8896350" y="30861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unique artists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E04DC96-0FB7-494A-A2A9-9DC650354704}"/>
              </a:ext>
            </a:extLst>
          </p:cNvPr>
          <p:cNvSpPr>
            <a:spLocks noGrp="1"/>
          </p:cNvSpPr>
          <p:nvPr/>
        </p:nvSpPr>
        <p:spPr>
          <a:xfrm>
            <a:off x="8686800" y="340995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7D95E7-84FE-42BA-9901-88311424FF4C}"/>
              </a:ext>
            </a:extLst>
          </p:cNvPr>
          <p:cNvSpPr>
            <a:spLocks noGrp="1"/>
          </p:cNvSpPr>
          <p:nvPr/>
        </p:nvSpPr>
        <p:spPr>
          <a:xfrm>
            <a:off x="8896350" y="33528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unique tracks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310CAE-FA97-4D87-9618-13E6588876BF}"/>
              </a:ext>
            </a:extLst>
          </p:cNvPr>
          <p:cNvSpPr>
            <a:spLocks noGrp="1"/>
          </p:cNvSpPr>
          <p:nvPr/>
        </p:nvSpPr>
        <p:spPr>
          <a:xfrm>
            <a:off x="8686800" y="3676650"/>
            <a:ext cx="95250" cy="952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4E81B3-640B-409C-9712-D5BCA8E81037}"/>
              </a:ext>
            </a:extLst>
          </p:cNvPr>
          <p:cNvSpPr>
            <a:spLocks noGrp="1"/>
          </p:cNvSpPr>
          <p:nvPr/>
        </p:nvSpPr>
        <p:spPr>
          <a:xfrm>
            <a:off x="8896350" y="36195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active days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71AD51D-5188-4063-8243-637814CA268F}"/>
              </a:ext>
            </a:extLst>
          </p:cNvPr>
          <p:cNvSpPr>
            <a:spLocks noGrp="1"/>
          </p:cNvSpPr>
          <p:nvPr/>
        </p:nvSpPr>
        <p:spPr>
          <a:xfrm>
            <a:off x="8686800" y="3943350"/>
            <a:ext cx="95250" cy="952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2DECD6-C8C4-4630-829E-336F098E4F36}"/>
              </a:ext>
            </a:extLst>
          </p:cNvPr>
          <p:cNvSpPr>
            <a:spLocks noGrp="1"/>
          </p:cNvSpPr>
          <p:nvPr/>
        </p:nvSpPr>
        <p:spPr>
          <a:xfrm>
            <a:off x="8896350" y="38862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avg listens / day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95DD62-1911-493F-8BFC-29E223C68A30}"/>
              </a:ext>
            </a:extLst>
          </p:cNvPr>
          <p:cNvSpPr>
            <a:spLocks noGrp="1"/>
          </p:cNvSpPr>
          <p:nvPr/>
        </p:nvSpPr>
        <p:spPr>
          <a:xfrm>
            <a:off x="8686800" y="4210050"/>
            <a:ext cx="95250" cy="95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FDF33CE-F99B-40A1-B9C7-82295C89B7EE}"/>
              </a:ext>
            </a:extLst>
          </p:cNvPr>
          <p:cNvSpPr>
            <a:spLocks noGrp="1"/>
          </p:cNvSpPr>
          <p:nvPr/>
        </p:nvSpPr>
        <p:spPr>
          <a:xfrm>
            <a:off x="8896350" y="41529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artist diversity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45DE1C0-B0B8-4579-832D-907692313F78}"/>
              </a:ext>
            </a:extLst>
          </p:cNvPr>
          <p:cNvSpPr>
            <a:spLocks noGrp="1"/>
          </p:cNvSpPr>
          <p:nvPr/>
        </p:nvSpPr>
        <p:spPr>
          <a:xfrm>
            <a:off x="8686800" y="44767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54F18D0-3827-4A51-8ABA-9747637DB215}"/>
              </a:ext>
            </a:extLst>
          </p:cNvPr>
          <p:cNvSpPr>
            <a:spLocks noGrp="1"/>
          </p:cNvSpPr>
          <p:nvPr/>
        </p:nvSpPr>
        <p:spPr>
          <a:xfrm>
            <a:off x="8896350" y="44196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repeat rate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733B6F-1271-46A6-A579-7B48E00AC8B6}"/>
              </a:ext>
            </a:extLst>
          </p:cNvPr>
          <p:cNvSpPr>
            <a:spLocks noGrp="1"/>
          </p:cNvSpPr>
          <p:nvPr/>
        </p:nvSpPr>
        <p:spPr>
          <a:xfrm>
            <a:off x="8686800" y="474345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ACDCF7-6726-43A1-9EAE-5AFF73524F8B}"/>
              </a:ext>
            </a:extLst>
          </p:cNvPr>
          <p:cNvSpPr>
            <a:spLocks noGrp="1"/>
          </p:cNvSpPr>
          <p:nvPr/>
        </p:nvSpPr>
        <p:spPr>
          <a:xfrm>
            <a:off x="8896350" y="46863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night share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25DCD81-1231-4DA8-9FD6-258B0A9732C1}"/>
              </a:ext>
            </a:extLst>
          </p:cNvPr>
          <p:cNvSpPr>
            <a:spLocks noGrp="1"/>
          </p:cNvSpPr>
          <p:nvPr/>
        </p:nvSpPr>
        <p:spPr>
          <a:xfrm>
            <a:off x="8686800" y="5010150"/>
            <a:ext cx="95250" cy="952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FFA6CF-A4C4-4DF9-81DD-5DEC514C3275}"/>
              </a:ext>
            </a:extLst>
          </p:cNvPr>
          <p:cNvSpPr>
            <a:spLocks noGrp="1"/>
          </p:cNvSpPr>
          <p:nvPr/>
        </p:nvSpPr>
        <p:spPr>
          <a:xfrm>
            <a:off x="8896350" y="49530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weekend share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29E6C84-160B-41E2-9761-FCC716F5563A}"/>
              </a:ext>
            </a:extLst>
          </p:cNvPr>
          <p:cNvSpPr>
            <a:spLocks noGrp="1"/>
          </p:cNvSpPr>
          <p:nvPr/>
        </p:nvSpPr>
        <p:spPr>
          <a:xfrm>
            <a:off x="1543050" y="5353050"/>
            <a:ext cx="8858250" cy="59055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D9F972-B64B-4006-B43D-C394CD8E8F04}"/>
              </a:ext>
            </a:extLst>
          </p:cNvPr>
          <p:cNvSpPr>
            <a:spLocks noGrp="1"/>
          </p:cNvSpPr>
          <p:nvPr/>
        </p:nvSpPr>
        <p:spPr>
          <a:xfrm>
            <a:off x="1543050" y="5353050"/>
            <a:ext cx="47625" cy="5905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E56264A-BB9E-4EF2-A20D-8F7FB730B61E}"/>
              </a:ext>
            </a:extLst>
          </p:cNvPr>
          <p:cNvSpPr>
            <a:spLocks noGrp="1"/>
          </p:cNvSpPr>
          <p:nvPr/>
        </p:nvSpPr>
        <p:spPr>
          <a:xfrm>
            <a:off x="1714500" y="5486400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Output: the users are grouped into heavy listeners, balanced listeners, and music explorers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E44F8E4-2E93-4D5A-BE88-F5BA2C4B9B13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061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8">
            <a:extLst>
              <a:ext uri="{FF2B5EF4-FFF2-40B4-BE49-F238E27FC236}">
                <a16:creationId xmlns:a16="http://schemas.microsoft.com/office/drawing/2014/main" id="{53A81C4D-A817-4A19-BB7D-A773E40288B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8">
            <a:extLst>
              <a:ext uri="{FF2B5EF4-FFF2-40B4-BE49-F238E27FC236}">
                <a16:creationId xmlns:a16="http://schemas.microsoft.com/office/drawing/2014/main" id="{557A4684-4F66-45D1-9252-E81524FFB50E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86DCB-6DD1-47C7-BA2C-D37FE188CA8C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Recommendation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41C2C5-8B49-447A-9C1E-119696E8E67C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7677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</a:t>
            </a:r>
            <a:r>
              <a:rPr sz="1400" b="0" dirty="0" err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MLlib</a:t>
            </a: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ALS uses listening counts as implicit feedback to produce ranked song recommendations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F3CF9-7F84-4D38-8190-4A97B407D001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095500" cy="1195578"/>
          </a:xfrm>
          <a:prstGeom prst="rect">
            <a:avLst/>
          </a:prstGeom>
          <a:solidFill>
            <a:srgbClr val="FFFFFF"/>
          </a:solidFill>
          <a:ln w="13335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BCABB-7266-45A0-8176-C78CA79F3A13}"/>
              </a:ext>
            </a:extLst>
          </p:cNvPr>
          <p:cNvSpPr>
            <a:spLocks noGrp="1"/>
          </p:cNvSpPr>
          <p:nvPr/>
        </p:nvSpPr>
        <p:spPr>
          <a:xfrm>
            <a:off x="952500" y="2743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563EB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Listening events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F31DB-FC63-49F7-B7CC-6E4FCAF10414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Raw user, artist, track, timestamp rows.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380E2-91F7-43FC-A1CD-ECBE08A889F9}"/>
              </a:ext>
            </a:extLst>
          </p:cNvPr>
          <p:cNvSpPr>
            <a:spLocks noGrp="1"/>
          </p:cNvSpPr>
          <p:nvPr/>
        </p:nvSpPr>
        <p:spPr>
          <a:xfrm>
            <a:off x="3352800" y="2571750"/>
            <a:ext cx="2286000" cy="1195578"/>
          </a:xfrm>
          <a:prstGeom prst="rect">
            <a:avLst/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C60ED-9F3E-40A7-9B74-1F99141B1AB9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F766E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Play counts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D4B6DC-DC8B-48A1-84F9-690996FE2678}"/>
              </a:ext>
            </a:extLst>
          </p:cNvPr>
          <p:cNvSpPr>
            <a:spLocks noGrp="1"/>
          </p:cNvSpPr>
          <p:nvPr/>
        </p:nvSpPr>
        <p:spPr>
          <a:xfrm>
            <a:off x="3524250" y="30480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Group by user and track, then log-scale preference.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BE4B1-A3AE-4E95-B5F1-20E09831328A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2190750" cy="1195578"/>
          </a:xfrm>
          <a:prstGeom prst="rect">
            <a:avLst/>
          </a:prstGeom>
          <a:solidFill>
            <a:srgbClr val="FFFFFF"/>
          </a:solidFill>
          <a:ln w="13335">
            <a:solidFill>
              <a:srgbClr val="BE123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BBEEC7-0E3F-45F7-8370-0CAFAD326762}"/>
              </a:ext>
            </a:extLst>
          </p:cNvPr>
          <p:cNvSpPr>
            <a:spLocks noGrp="1"/>
          </p:cNvSpPr>
          <p:nvPr/>
        </p:nvSpPr>
        <p:spPr>
          <a:xfrm>
            <a:off x="6286500" y="27432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BE123C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ALS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AC022-3E9B-417C-9EC2-A7CDD1E24B6F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Spark </a:t>
            </a:r>
            <a:r>
              <a:rPr sz="1400" b="0" dirty="0" err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MLlib</a:t>
            </a: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collaborative filtering with </a:t>
            </a:r>
            <a:r>
              <a:rPr sz="1400" b="0" dirty="0" err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implicitPrefs</a:t>
            </a: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=True.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7ED287-C9FC-43F5-B315-2B045A37EE22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190750" cy="1195578"/>
          </a:xfrm>
          <a:prstGeom prst="rect">
            <a:avLst/>
          </a:prstGeom>
          <a:solidFill>
            <a:srgbClr val="FFFFFF"/>
          </a:solidFill>
          <a:ln w="13335">
            <a:solidFill>
              <a:srgbClr val="D9770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68644F-B8BC-4834-9D35-C6876ACA1952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97706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Top-10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9C35AA-9FF0-4565-B809-252DB79B211C}"/>
              </a:ext>
            </a:extLst>
          </p:cNvPr>
          <p:cNvSpPr>
            <a:spLocks noGrp="1"/>
          </p:cNvSpPr>
          <p:nvPr/>
        </p:nvSpPr>
        <p:spPr>
          <a:xfrm>
            <a:off x="8953500" y="3048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Exclude known songs and rank unseen candidates.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DF63E-0FD3-4A5D-A65F-C0F952841586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285750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B676EC-D33C-4426-825D-AABAB5B80C87}"/>
              </a:ext>
            </a:extLst>
          </p:cNvPr>
          <p:cNvSpPr>
            <a:spLocks noGrp="1"/>
          </p:cNvSpPr>
          <p:nvPr/>
        </p:nvSpPr>
        <p:spPr>
          <a:xfrm>
            <a:off x="5734050" y="3009900"/>
            <a:ext cx="285750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8005B6-7F60-4E14-8EA7-FFBBF4A3442C}"/>
              </a:ext>
            </a:extLst>
          </p:cNvPr>
          <p:cNvSpPr>
            <a:spLocks noGrp="1"/>
          </p:cNvSpPr>
          <p:nvPr/>
        </p:nvSpPr>
        <p:spPr>
          <a:xfrm>
            <a:off x="8401050" y="3009900"/>
            <a:ext cx="285750" cy="381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2A80B6-B0F7-4BA5-8991-A488BA61C26D}"/>
              </a:ext>
            </a:extLst>
          </p:cNvPr>
          <p:cNvSpPr>
            <a:spLocks noGrp="1"/>
          </p:cNvSpPr>
          <p:nvPr/>
        </p:nvSpPr>
        <p:spPr>
          <a:xfrm>
            <a:off x="2000250" y="4419600"/>
            <a:ext cx="1714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599FE-3222-4220-8F4B-DEE5BED2A2A3}"/>
              </a:ext>
            </a:extLst>
          </p:cNvPr>
          <p:cNvSpPr>
            <a:spLocks noGrp="1"/>
          </p:cNvSpPr>
          <p:nvPr/>
        </p:nvSpPr>
        <p:spPr>
          <a:xfrm>
            <a:off x="2152650" y="45720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563EB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84,633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C10A6C-6436-4516-9D20-5CAC38AF2DA2}"/>
              </a:ext>
            </a:extLst>
          </p:cNvPr>
          <p:cNvSpPr>
            <a:spLocks noGrp="1"/>
          </p:cNvSpPr>
          <p:nvPr/>
        </p:nvSpPr>
        <p:spPr>
          <a:xfrm>
            <a:off x="2152650" y="49149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model interactions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D8DB5-17E2-4BC1-85FB-666FC54E7C1B}"/>
              </a:ext>
            </a:extLst>
          </p:cNvPr>
          <p:cNvSpPr>
            <a:spLocks noGrp="1"/>
          </p:cNvSpPr>
          <p:nvPr/>
        </p:nvSpPr>
        <p:spPr>
          <a:xfrm>
            <a:off x="4057650" y="4419600"/>
            <a:ext cx="1714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549E6-D109-4BBA-BC71-133FC794C09E}"/>
              </a:ext>
            </a:extLst>
          </p:cNvPr>
          <p:cNvSpPr>
            <a:spLocks noGrp="1"/>
          </p:cNvSpPr>
          <p:nvPr/>
        </p:nvSpPr>
        <p:spPr>
          <a:xfrm>
            <a:off x="4210050" y="45720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BE123C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1.3045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C96C76-1DC3-4DF0-B7BF-047D34EA235A}"/>
              </a:ext>
            </a:extLst>
          </p:cNvPr>
          <p:cNvSpPr>
            <a:spLocks noGrp="1"/>
          </p:cNvSpPr>
          <p:nvPr/>
        </p:nvSpPr>
        <p:spPr>
          <a:xfrm>
            <a:off x="4210050" y="49149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RMSE diagnostic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B267BF-8315-4A65-9137-66CF0884734D}"/>
              </a:ext>
            </a:extLst>
          </p:cNvPr>
          <p:cNvSpPr>
            <a:spLocks noGrp="1"/>
          </p:cNvSpPr>
          <p:nvPr/>
        </p:nvSpPr>
        <p:spPr>
          <a:xfrm>
            <a:off x="6115050" y="4419600"/>
            <a:ext cx="1714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2A5CA7-2239-495F-B916-4BFCB7848A47}"/>
              </a:ext>
            </a:extLst>
          </p:cNvPr>
          <p:cNvSpPr>
            <a:spLocks noGrp="1"/>
          </p:cNvSpPr>
          <p:nvPr/>
        </p:nvSpPr>
        <p:spPr>
          <a:xfrm>
            <a:off x="6267450" y="45720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F766E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0.0244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DFF45F-4B00-4238-9F72-C0A461B5665A}"/>
              </a:ext>
            </a:extLst>
          </p:cNvPr>
          <p:cNvSpPr>
            <a:spLocks noGrp="1"/>
          </p:cNvSpPr>
          <p:nvPr/>
        </p:nvSpPr>
        <p:spPr>
          <a:xfrm>
            <a:off x="6267450" y="49149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Precision@10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D4820B-0FEE-40A1-8EA8-86B6764B7B04}"/>
              </a:ext>
            </a:extLst>
          </p:cNvPr>
          <p:cNvSpPr>
            <a:spLocks noGrp="1"/>
          </p:cNvSpPr>
          <p:nvPr/>
        </p:nvSpPr>
        <p:spPr>
          <a:xfrm>
            <a:off x="8172450" y="4419600"/>
            <a:ext cx="1714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25C995-5AC5-463C-98DC-65273549B381}"/>
              </a:ext>
            </a:extLst>
          </p:cNvPr>
          <p:cNvSpPr>
            <a:spLocks noGrp="1"/>
          </p:cNvSpPr>
          <p:nvPr/>
        </p:nvSpPr>
        <p:spPr>
          <a:xfrm>
            <a:off x="8324850" y="45720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97706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0.1220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2B2A36-1074-40C0-A763-390AD537DCD3}"/>
              </a:ext>
            </a:extLst>
          </p:cNvPr>
          <p:cNvSpPr>
            <a:spLocks noGrp="1"/>
          </p:cNvSpPr>
          <p:nvPr/>
        </p:nvSpPr>
        <p:spPr>
          <a:xfrm>
            <a:off x="8324850" y="49149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Hit Rate@10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551797-A2A3-4983-B3E2-A7712FEE9F86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603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-9">
            <a:extLst>
              <a:ext uri="{FF2B5EF4-FFF2-40B4-BE49-F238E27FC236}">
                <a16:creationId xmlns:a16="http://schemas.microsoft.com/office/drawing/2014/main" id="{3025156A-1A40-40AB-9077-F1A86696110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9">
            <a:extLst>
              <a:ext uri="{FF2B5EF4-FFF2-40B4-BE49-F238E27FC236}">
                <a16:creationId xmlns:a16="http://schemas.microsoft.com/office/drawing/2014/main" id="{017F325F-FFCC-42D4-BA70-F2657C979113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PART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E0221-C528-43B6-8740-01B8195AD4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Times New Roman" panose="02020603050405020304" pitchFamily="18" charset="0"/>
                <a:ea typeface="Aptos Display"/>
                <a:cs typeface="Times New Roman" panose="02020603050405020304" pitchFamily="18" charset="0"/>
              </a:rPr>
              <a:t>Recommendation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58F9C-4FF0-4E51-8EA8-CF7C73EFE11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372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model scores candidate tracks and removes songs already listened to by the selected 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926A0-A698-4615-9D36-868BAED5EB24}"/>
              </a:ext>
            </a:extLst>
          </p:cNvPr>
          <p:cNvSpPr>
            <a:spLocks noGrp="1"/>
          </p:cNvSpPr>
          <p:nvPr/>
        </p:nvSpPr>
        <p:spPr>
          <a:xfrm>
            <a:off x="1657350" y="2190750"/>
            <a:ext cx="666750" cy="4191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03BDE-AC86-497F-95B2-40F184580250}"/>
              </a:ext>
            </a:extLst>
          </p:cNvPr>
          <p:cNvSpPr>
            <a:spLocks noGrp="1"/>
          </p:cNvSpPr>
          <p:nvPr/>
        </p:nvSpPr>
        <p:spPr>
          <a:xfrm>
            <a:off x="1733550" y="22479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715E9-D96E-4577-BAC2-7BAC3642BC2F}"/>
              </a:ext>
            </a:extLst>
          </p:cNvPr>
          <p:cNvSpPr>
            <a:spLocks noGrp="1"/>
          </p:cNvSpPr>
          <p:nvPr/>
        </p:nvSpPr>
        <p:spPr>
          <a:xfrm>
            <a:off x="2324100" y="2190750"/>
            <a:ext cx="3238500" cy="4191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91862-2C79-4B1E-836D-8F3FAD3EF9BC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Recommended track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62256-8818-41D5-8A66-179AB4F1DB4A}"/>
              </a:ext>
            </a:extLst>
          </p:cNvPr>
          <p:cNvSpPr>
            <a:spLocks noGrp="1"/>
          </p:cNvSpPr>
          <p:nvPr/>
        </p:nvSpPr>
        <p:spPr>
          <a:xfrm>
            <a:off x="5562600" y="2190750"/>
            <a:ext cx="3143250" cy="4191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00B0B-B55E-4671-B5FF-03AAACEA353D}"/>
              </a:ext>
            </a:extLst>
          </p:cNvPr>
          <p:cNvSpPr>
            <a:spLocks noGrp="1"/>
          </p:cNvSpPr>
          <p:nvPr/>
        </p:nvSpPr>
        <p:spPr>
          <a:xfrm>
            <a:off x="5638800" y="22479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Artist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7F082-D30A-4141-8592-30B157037932}"/>
              </a:ext>
            </a:extLst>
          </p:cNvPr>
          <p:cNvSpPr>
            <a:spLocks noGrp="1"/>
          </p:cNvSpPr>
          <p:nvPr/>
        </p:nvSpPr>
        <p:spPr>
          <a:xfrm>
            <a:off x="8705850" y="2190750"/>
            <a:ext cx="952500" cy="4191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F4E6CD-8643-4B37-80A0-D283322DF308}"/>
              </a:ext>
            </a:extLst>
          </p:cNvPr>
          <p:cNvSpPr>
            <a:spLocks noGrp="1"/>
          </p:cNvSpPr>
          <p:nvPr/>
        </p:nvSpPr>
        <p:spPr>
          <a:xfrm>
            <a:off x="8782050" y="22479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Score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A303F-ECDF-49E9-AE6A-E01D1FC0DDAF}"/>
              </a:ext>
            </a:extLst>
          </p:cNvPr>
          <p:cNvSpPr>
            <a:spLocks noGrp="1"/>
          </p:cNvSpPr>
          <p:nvPr/>
        </p:nvSpPr>
        <p:spPr>
          <a:xfrm>
            <a:off x="1657350" y="2609850"/>
            <a:ext cx="6667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10E1A-D373-4396-AE80-C79851578E08}"/>
              </a:ext>
            </a:extLst>
          </p:cNvPr>
          <p:cNvSpPr>
            <a:spLocks noGrp="1"/>
          </p:cNvSpPr>
          <p:nvPr/>
        </p:nvSpPr>
        <p:spPr>
          <a:xfrm>
            <a:off x="1733550" y="26670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AB7DD3-3685-4023-920A-E0D395C10F19}"/>
              </a:ext>
            </a:extLst>
          </p:cNvPr>
          <p:cNvSpPr>
            <a:spLocks noGrp="1"/>
          </p:cNvSpPr>
          <p:nvPr/>
        </p:nvSpPr>
        <p:spPr>
          <a:xfrm>
            <a:off x="2324100" y="2609850"/>
            <a:ext cx="3238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6968BE-8A23-4663-9032-FC82074313B9}"/>
              </a:ext>
            </a:extLst>
          </p:cNvPr>
          <p:cNvSpPr>
            <a:spLocks noGrp="1"/>
          </p:cNvSpPr>
          <p:nvPr/>
        </p:nvSpPr>
        <p:spPr>
          <a:xfrm>
            <a:off x="2352675" y="2619375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Stand Up Guy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242AA-DBB9-47A8-8ED0-AEE6F80EF64D}"/>
              </a:ext>
            </a:extLst>
          </p:cNvPr>
          <p:cNvSpPr>
            <a:spLocks noGrp="1"/>
          </p:cNvSpPr>
          <p:nvPr/>
        </p:nvSpPr>
        <p:spPr>
          <a:xfrm>
            <a:off x="5562600" y="2609850"/>
            <a:ext cx="31432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81336E-CBA0-4500-A4D7-C33EE984D63C}"/>
              </a:ext>
            </a:extLst>
          </p:cNvPr>
          <p:cNvSpPr>
            <a:spLocks noGrp="1"/>
          </p:cNvSpPr>
          <p:nvPr/>
        </p:nvSpPr>
        <p:spPr>
          <a:xfrm>
            <a:off x="5638800" y="26670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T.I.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8DCEE4-A3C9-4E27-942A-22947D7FBA1D}"/>
              </a:ext>
            </a:extLst>
          </p:cNvPr>
          <p:cNvSpPr>
            <a:spLocks noGrp="1"/>
          </p:cNvSpPr>
          <p:nvPr/>
        </p:nvSpPr>
        <p:spPr>
          <a:xfrm>
            <a:off x="8705850" y="2609850"/>
            <a:ext cx="952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D64CC-1B1C-43C3-9CF4-CB8D6DDBC317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1.6746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53F740-14B6-4C78-97EC-94DBCD176F28}"/>
              </a:ext>
            </a:extLst>
          </p:cNvPr>
          <p:cNvSpPr>
            <a:spLocks noGrp="1"/>
          </p:cNvSpPr>
          <p:nvPr/>
        </p:nvSpPr>
        <p:spPr>
          <a:xfrm>
            <a:off x="1657350" y="3028950"/>
            <a:ext cx="6667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EA879-C94C-45CC-BAB5-1EF4D9928AF7}"/>
              </a:ext>
            </a:extLst>
          </p:cNvPr>
          <p:cNvSpPr>
            <a:spLocks noGrp="1"/>
          </p:cNvSpPr>
          <p:nvPr/>
        </p:nvSpPr>
        <p:spPr>
          <a:xfrm>
            <a:off x="1733550" y="30861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6CCAFE-8AEA-4815-8CB5-B6E16421DC01}"/>
              </a:ext>
            </a:extLst>
          </p:cNvPr>
          <p:cNvSpPr>
            <a:spLocks noGrp="1"/>
          </p:cNvSpPr>
          <p:nvPr/>
        </p:nvSpPr>
        <p:spPr>
          <a:xfrm>
            <a:off x="2324100" y="3028950"/>
            <a:ext cx="3238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539F9D-C07D-4BF4-A250-251C5BDE422C}"/>
              </a:ext>
            </a:extLst>
          </p:cNvPr>
          <p:cNvSpPr>
            <a:spLocks noGrp="1"/>
          </p:cNvSpPr>
          <p:nvPr/>
        </p:nvSpPr>
        <p:spPr>
          <a:xfrm>
            <a:off x="2400300" y="30861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Cream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841879-4BEB-461E-9DF8-7B1864251143}"/>
              </a:ext>
            </a:extLst>
          </p:cNvPr>
          <p:cNvSpPr>
            <a:spLocks noGrp="1"/>
          </p:cNvSpPr>
          <p:nvPr/>
        </p:nvSpPr>
        <p:spPr>
          <a:xfrm>
            <a:off x="5562600" y="3028950"/>
            <a:ext cx="31432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8956FE-A236-4A2A-B6A2-41F0E93AF5A7}"/>
              </a:ext>
            </a:extLst>
          </p:cNvPr>
          <p:cNvSpPr>
            <a:spLocks noGrp="1"/>
          </p:cNvSpPr>
          <p:nvPr/>
        </p:nvSpPr>
        <p:spPr>
          <a:xfrm>
            <a:off x="5638800" y="30861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Prince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DEBD73-46E4-4FC8-A8F6-FBE3DD6961AF}"/>
              </a:ext>
            </a:extLst>
          </p:cNvPr>
          <p:cNvSpPr>
            <a:spLocks noGrp="1"/>
          </p:cNvSpPr>
          <p:nvPr/>
        </p:nvSpPr>
        <p:spPr>
          <a:xfrm>
            <a:off x="8705850" y="3028950"/>
            <a:ext cx="952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2882F8-B770-42C4-BF1C-E619D723CA25}"/>
              </a:ext>
            </a:extLst>
          </p:cNvPr>
          <p:cNvSpPr>
            <a:spLocks noGrp="1"/>
          </p:cNvSpPr>
          <p:nvPr/>
        </p:nvSpPr>
        <p:spPr>
          <a:xfrm>
            <a:off x="8782050" y="30861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1.4785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CFCC44-F4EF-4295-BE64-5919E3D0D3E0}"/>
              </a:ext>
            </a:extLst>
          </p:cNvPr>
          <p:cNvSpPr>
            <a:spLocks noGrp="1"/>
          </p:cNvSpPr>
          <p:nvPr/>
        </p:nvSpPr>
        <p:spPr>
          <a:xfrm>
            <a:off x="1657350" y="3448050"/>
            <a:ext cx="6667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07DF7A-8A72-45FC-9B83-3D8DCDD82A06}"/>
              </a:ext>
            </a:extLst>
          </p:cNvPr>
          <p:cNvSpPr>
            <a:spLocks noGrp="1"/>
          </p:cNvSpPr>
          <p:nvPr/>
        </p:nvSpPr>
        <p:spPr>
          <a:xfrm>
            <a:off x="1733550" y="3505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5A1FF6-6373-49C2-ACE4-B1C88642770F}"/>
              </a:ext>
            </a:extLst>
          </p:cNvPr>
          <p:cNvSpPr>
            <a:spLocks noGrp="1"/>
          </p:cNvSpPr>
          <p:nvPr/>
        </p:nvSpPr>
        <p:spPr>
          <a:xfrm>
            <a:off x="2324100" y="3448050"/>
            <a:ext cx="3238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9F0489-EB6F-4D76-B34B-9B5D00628170}"/>
              </a:ext>
            </a:extLst>
          </p:cNvPr>
          <p:cNvSpPr>
            <a:spLocks noGrp="1"/>
          </p:cNvSpPr>
          <p:nvPr/>
        </p:nvSpPr>
        <p:spPr>
          <a:xfrm>
            <a:off x="2400300" y="35052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Me And Those Dreamin' Eyes Of Mine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57E069-02CA-4257-8B94-C297B8C62A90}"/>
              </a:ext>
            </a:extLst>
          </p:cNvPr>
          <p:cNvSpPr>
            <a:spLocks noGrp="1"/>
          </p:cNvSpPr>
          <p:nvPr/>
        </p:nvSpPr>
        <p:spPr>
          <a:xfrm>
            <a:off x="5562600" y="3448050"/>
            <a:ext cx="31432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2FFE2A-25A0-4F01-820A-34D31BBC0669}"/>
              </a:ext>
            </a:extLst>
          </p:cNvPr>
          <p:cNvSpPr>
            <a:spLocks noGrp="1"/>
          </p:cNvSpPr>
          <p:nvPr/>
        </p:nvSpPr>
        <p:spPr>
          <a:xfrm>
            <a:off x="5638800" y="35052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D'Angelo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9CAECE-3440-487C-BBF9-B76452C52E33}"/>
              </a:ext>
            </a:extLst>
          </p:cNvPr>
          <p:cNvSpPr>
            <a:spLocks noGrp="1"/>
          </p:cNvSpPr>
          <p:nvPr/>
        </p:nvSpPr>
        <p:spPr>
          <a:xfrm>
            <a:off x="8705850" y="3448050"/>
            <a:ext cx="952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4A4A6F-BB35-4E40-B90D-DCDCA62BC6CE}"/>
              </a:ext>
            </a:extLst>
          </p:cNvPr>
          <p:cNvSpPr>
            <a:spLocks noGrp="1"/>
          </p:cNvSpPr>
          <p:nvPr/>
        </p:nvSpPr>
        <p:spPr>
          <a:xfrm>
            <a:off x="8782050" y="35052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1.4744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24C47D-8AD5-4E07-8BB9-2548E68CA1D9}"/>
              </a:ext>
            </a:extLst>
          </p:cNvPr>
          <p:cNvSpPr>
            <a:spLocks noGrp="1"/>
          </p:cNvSpPr>
          <p:nvPr/>
        </p:nvSpPr>
        <p:spPr>
          <a:xfrm>
            <a:off x="1657350" y="3867150"/>
            <a:ext cx="6667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2DC48A-6BEA-4BBD-A185-28A7E13ADB0A}"/>
              </a:ext>
            </a:extLst>
          </p:cNvPr>
          <p:cNvSpPr>
            <a:spLocks noGrp="1"/>
          </p:cNvSpPr>
          <p:nvPr/>
        </p:nvSpPr>
        <p:spPr>
          <a:xfrm>
            <a:off x="1733550" y="39243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8BD844-69F8-4D83-89E5-23C38AB9384B}"/>
              </a:ext>
            </a:extLst>
          </p:cNvPr>
          <p:cNvSpPr>
            <a:spLocks noGrp="1"/>
          </p:cNvSpPr>
          <p:nvPr/>
        </p:nvSpPr>
        <p:spPr>
          <a:xfrm>
            <a:off x="2324100" y="3867150"/>
            <a:ext cx="3238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D72E7A-F078-43A0-9CD4-30F119EA5A37}"/>
              </a:ext>
            </a:extLst>
          </p:cNvPr>
          <p:cNvSpPr>
            <a:spLocks noGrp="1"/>
          </p:cNvSpPr>
          <p:nvPr/>
        </p:nvSpPr>
        <p:spPr>
          <a:xfrm>
            <a:off x="2400300" y="39243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Rain On Me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D83EF7-D247-41AB-93F6-0C8DACB13492}"/>
              </a:ext>
            </a:extLst>
          </p:cNvPr>
          <p:cNvSpPr>
            <a:spLocks noGrp="1"/>
          </p:cNvSpPr>
          <p:nvPr/>
        </p:nvSpPr>
        <p:spPr>
          <a:xfrm>
            <a:off x="5562600" y="3867150"/>
            <a:ext cx="31432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801CAC-CC07-4F51-9191-EF81FE221E11}"/>
              </a:ext>
            </a:extLst>
          </p:cNvPr>
          <p:cNvSpPr>
            <a:spLocks noGrp="1"/>
          </p:cNvSpPr>
          <p:nvPr/>
        </p:nvSpPr>
        <p:spPr>
          <a:xfrm>
            <a:off x="5638800" y="39243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Ashanti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B95650-456D-4631-87FB-1A179C00B0AF}"/>
              </a:ext>
            </a:extLst>
          </p:cNvPr>
          <p:cNvSpPr>
            <a:spLocks noGrp="1"/>
          </p:cNvSpPr>
          <p:nvPr/>
        </p:nvSpPr>
        <p:spPr>
          <a:xfrm>
            <a:off x="8705850" y="3867150"/>
            <a:ext cx="952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BE46AA-8738-48AA-AD6C-BCC4C748ACA8}"/>
              </a:ext>
            </a:extLst>
          </p:cNvPr>
          <p:cNvSpPr>
            <a:spLocks noGrp="1"/>
          </p:cNvSpPr>
          <p:nvPr/>
        </p:nvSpPr>
        <p:spPr>
          <a:xfrm>
            <a:off x="8782050" y="39243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1.4671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98BDA0-E669-4C8E-9F0A-304A100E4C50}"/>
              </a:ext>
            </a:extLst>
          </p:cNvPr>
          <p:cNvSpPr>
            <a:spLocks noGrp="1"/>
          </p:cNvSpPr>
          <p:nvPr/>
        </p:nvSpPr>
        <p:spPr>
          <a:xfrm>
            <a:off x="1657350" y="4286250"/>
            <a:ext cx="6667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15A675-9999-4D27-A88A-2374A1451BA0}"/>
              </a:ext>
            </a:extLst>
          </p:cNvPr>
          <p:cNvSpPr>
            <a:spLocks noGrp="1"/>
          </p:cNvSpPr>
          <p:nvPr/>
        </p:nvSpPr>
        <p:spPr>
          <a:xfrm>
            <a:off x="1733550" y="43434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2F3797-B786-4606-A8E7-5006A21FDA15}"/>
              </a:ext>
            </a:extLst>
          </p:cNvPr>
          <p:cNvSpPr>
            <a:spLocks noGrp="1"/>
          </p:cNvSpPr>
          <p:nvPr/>
        </p:nvSpPr>
        <p:spPr>
          <a:xfrm>
            <a:off x="2324100" y="4286250"/>
            <a:ext cx="3238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3673E5-8804-4CD0-BDD2-83AD915133A0}"/>
              </a:ext>
            </a:extLst>
          </p:cNvPr>
          <p:cNvSpPr>
            <a:spLocks noGrp="1"/>
          </p:cNvSpPr>
          <p:nvPr/>
        </p:nvSpPr>
        <p:spPr>
          <a:xfrm>
            <a:off x="2400300" y="43434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Kingdom Of Doom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B4A73E-D459-4EB7-9AFA-3C119A3A526F}"/>
              </a:ext>
            </a:extLst>
          </p:cNvPr>
          <p:cNvSpPr>
            <a:spLocks noGrp="1"/>
          </p:cNvSpPr>
          <p:nvPr/>
        </p:nvSpPr>
        <p:spPr>
          <a:xfrm>
            <a:off x="5562600" y="4286250"/>
            <a:ext cx="314325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36CC63-5DF4-43A0-AD37-A19830498325}"/>
              </a:ext>
            </a:extLst>
          </p:cNvPr>
          <p:cNvSpPr>
            <a:spLocks noGrp="1"/>
          </p:cNvSpPr>
          <p:nvPr/>
        </p:nvSpPr>
        <p:spPr>
          <a:xfrm>
            <a:off x="5638800" y="43434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Good, The Bad &amp; The Queen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F9D238-F6AC-45CB-85B1-0C7505283C7C}"/>
              </a:ext>
            </a:extLst>
          </p:cNvPr>
          <p:cNvSpPr>
            <a:spLocks noGrp="1"/>
          </p:cNvSpPr>
          <p:nvPr/>
        </p:nvSpPr>
        <p:spPr>
          <a:xfrm>
            <a:off x="8705850" y="4286250"/>
            <a:ext cx="952500" cy="4191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E3FB6C-F26C-4F21-BF00-8A4578DB46F4}"/>
              </a:ext>
            </a:extLst>
          </p:cNvPr>
          <p:cNvSpPr>
            <a:spLocks noGrp="1"/>
          </p:cNvSpPr>
          <p:nvPr/>
        </p:nvSpPr>
        <p:spPr>
          <a:xfrm>
            <a:off x="8782050" y="43434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1.4627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C2945D-C694-4DF5-8A35-8E70735CB5B8}"/>
              </a:ext>
            </a:extLst>
          </p:cNvPr>
          <p:cNvSpPr>
            <a:spLocks noGrp="1"/>
          </p:cNvSpPr>
          <p:nvPr/>
        </p:nvSpPr>
        <p:spPr>
          <a:xfrm>
            <a:off x="1657350" y="4705350"/>
            <a:ext cx="6667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D36F1D-9BF3-4D47-BE66-68F45020C0A1}"/>
              </a:ext>
            </a:extLst>
          </p:cNvPr>
          <p:cNvSpPr>
            <a:spLocks noGrp="1"/>
          </p:cNvSpPr>
          <p:nvPr/>
        </p:nvSpPr>
        <p:spPr>
          <a:xfrm>
            <a:off x="1733550" y="47625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C94EF6-56D2-4B32-9D24-C68176850F63}"/>
              </a:ext>
            </a:extLst>
          </p:cNvPr>
          <p:cNvSpPr>
            <a:spLocks noGrp="1"/>
          </p:cNvSpPr>
          <p:nvPr/>
        </p:nvSpPr>
        <p:spPr>
          <a:xfrm>
            <a:off x="2324100" y="4705350"/>
            <a:ext cx="3238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EE2399-3633-4414-8B96-CC087BF0C9F4}"/>
              </a:ext>
            </a:extLst>
          </p:cNvPr>
          <p:cNvSpPr>
            <a:spLocks noGrp="1"/>
          </p:cNvSpPr>
          <p:nvPr/>
        </p:nvSpPr>
        <p:spPr>
          <a:xfrm>
            <a:off x="2400300" y="476250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Sweet Sweet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5D1F41E-2C1C-4079-8B1E-1B268E6D340D}"/>
              </a:ext>
            </a:extLst>
          </p:cNvPr>
          <p:cNvSpPr>
            <a:spLocks noGrp="1"/>
          </p:cNvSpPr>
          <p:nvPr/>
        </p:nvSpPr>
        <p:spPr>
          <a:xfrm>
            <a:off x="5562600" y="4705350"/>
            <a:ext cx="314325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C8071E5-C30E-49E7-A618-DAD0C2BBF134}"/>
              </a:ext>
            </a:extLst>
          </p:cNvPr>
          <p:cNvSpPr>
            <a:spLocks noGrp="1"/>
          </p:cNvSpPr>
          <p:nvPr/>
        </p:nvSpPr>
        <p:spPr>
          <a:xfrm>
            <a:off x="5638800" y="47625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The Smashing Pumpkins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2305D1-4F96-4B16-B0D4-A922F692C168}"/>
              </a:ext>
            </a:extLst>
          </p:cNvPr>
          <p:cNvSpPr>
            <a:spLocks noGrp="1"/>
          </p:cNvSpPr>
          <p:nvPr/>
        </p:nvSpPr>
        <p:spPr>
          <a:xfrm>
            <a:off x="8705850" y="4705350"/>
            <a:ext cx="952500" cy="4191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4605D17-6910-477A-B0F1-4BBF0B209E33}"/>
              </a:ext>
            </a:extLst>
          </p:cNvPr>
          <p:cNvSpPr>
            <a:spLocks noGrp="1"/>
          </p:cNvSpPr>
          <p:nvPr/>
        </p:nvSpPr>
        <p:spPr>
          <a:xfrm>
            <a:off x="8782050" y="47625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1.4592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4255CD1-7C82-44EB-90C1-182249FF56E0}"/>
              </a:ext>
            </a:extLst>
          </p:cNvPr>
          <p:cNvSpPr>
            <a:spLocks noGrp="1"/>
          </p:cNvSpPr>
          <p:nvPr/>
        </p:nvSpPr>
        <p:spPr>
          <a:xfrm>
            <a:off x="1657350" y="5486400"/>
            <a:ext cx="8763000" cy="62865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BE123C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8C1BB1-8C1B-44E4-BA13-AF2B9F98B089}"/>
              </a:ext>
            </a:extLst>
          </p:cNvPr>
          <p:cNvSpPr>
            <a:spLocks noGrp="1"/>
          </p:cNvSpPr>
          <p:nvPr/>
        </p:nvSpPr>
        <p:spPr>
          <a:xfrm>
            <a:off x="1657350" y="5486400"/>
            <a:ext cx="47625" cy="6286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9D01B8C-5D45-4AFA-BCE2-4393B11070E3}"/>
              </a:ext>
            </a:extLst>
          </p:cNvPr>
          <p:cNvSpPr>
            <a:spLocks noGrp="1"/>
          </p:cNvSpPr>
          <p:nvPr/>
        </p:nvSpPr>
        <p:spPr>
          <a:xfrm>
            <a:off x="1828800" y="5619750"/>
            <a:ext cx="8477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Selected user: user_000031. The notebook generates top recommendations that can be shown during the demo.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C88E37-5C79-4B06-B613-57C365BF8C2C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685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E0D7ACF-7747-4DA3-BA3D-6F03E1C1A0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0">
            <a:extLst>
              <a:ext uri="{FF2B5EF4-FFF2-40B4-BE49-F238E27FC236}">
                <a16:creationId xmlns:a16="http://schemas.microsoft.com/office/drawing/2014/main" id="{94C45B3E-7E7E-4AA3-971E-65F585CDA29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2286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0">
            <a:extLst>
              <a:ext uri="{FF2B5EF4-FFF2-40B4-BE49-F238E27FC236}">
                <a16:creationId xmlns:a16="http://schemas.microsoft.com/office/drawing/2014/main" id="{9697FD7E-8C74-4C49-AA20-459EE472E654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8DF29-5AAB-469C-8604-FF7F13F7027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Files Prepared for Submission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6A48-B74A-43E3-9978-F8ED04AC9BAA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project demonstrates big data analytics and a recommendation system using PySpark.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6E7299-4342-4616-92F7-5641A8F7C423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2190750" cy="4572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65B66-72A4-445B-9F69-3ADADFDABBA0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8C1C8-A27C-4822-9FC0-0404F819800A}"/>
              </a:ext>
            </a:extLst>
          </p:cNvPr>
          <p:cNvSpPr>
            <a:spLocks noGrp="1"/>
          </p:cNvSpPr>
          <p:nvPr/>
        </p:nvSpPr>
        <p:spPr>
          <a:xfrm>
            <a:off x="3028950" y="2381250"/>
            <a:ext cx="6858000" cy="457200"/>
          </a:xfrm>
          <a:prstGeom prst="rect">
            <a:avLst/>
          </a:prstGeom>
          <a:solidFill>
            <a:srgbClr val="162033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9389C2-FA2B-43C7-99CB-CB697356F7F6}"/>
              </a:ext>
            </a:extLst>
          </p:cNvPr>
          <p:cNvSpPr>
            <a:spLocks noGrp="1"/>
          </p:cNvSpPr>
          <p:nvPr/>
        </p:nvSpPr>
        <p:spPr>
          <a:xfrm>
            <a:off x="3105150" y="24384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/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1D468-C78B-446E-8B69-3010C2C78404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219075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9AACE-F747-4F66-BD41-1BFA13316583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 A notebook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F62D7D-4B3B-432C-860F-57CC9F4C5E88}"/>
              </a:ext>
            </a:extLst>
          </p:cNvPr>
          <p:cNvSpPr>
            <a:spLocks noGrp="1"/>
          </p:cNvSpPr>
          <p:nvPr/>
        </p:nvSpPr>
        <p:spPr>
          <a:xfrm>
            <a:off x="3028950" y="2838450"/>
            <a:ext cx="68580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6F7A15-984A-402B-8848-7DB90F555845}"/>
              </a:ext>
            </a:extLst>
          </p:cNvPr>
          <p:cNvSpPr>
            <a:spLocks noGrp="1"/>
          </p:cNvSpPr>
          <p:nvPr/>
        </p:nvSpPr>
        <p:spPr>
          <a:xfrm>
            <a:off x="3105150" y="28956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Music_Listening_Analytics_Bonus_PartA_PySpark.ipynb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8AED62-077C-44AF-B04C-3BF5BE45C242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2190750" cy="4572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084E7-124E-4403-B668-4379F53CB30E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 B notebook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475014-6172-48BF-B87B-D6CFC81FDD05}"/>
              </a:ext>
            </a:extLst>
          </p:cNvPr>
          <p:cNvSpPr>
            <a:spLocks noGrp="1"/>
          </p:cNvSpPr>
          <p:nvPr/>
        </p:nvSpPr>
        <p:spPr>
          <a:xfrm>
            <a:off x="3028950" y="3295650"/>
            <a:ext cx="6858000" cy="4572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C40C3-9EF1-43EF-9669-57C8A73FC8A6}"/>
              </a:ext>
            </a:extLst>
          </p:cNvPr>
          <p:cNvSpPr>
            <a:spLocks noGrp="1"/>
          </p:cNvSpPr>
          <p:nvPr/>
        </p:nvSpPr>
        <p:spPr>
          <a:xfrm>
            <a:off x="3105150" y="33528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Music_Recommendation_PySpark.ipynb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8563BD-475C-446B-B2E6-3F8BC8E5ACCF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219075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6CAC54-CF6A-435E-9DAE-2CDA41403114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Dataset link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BAE29A-1958-4982-A2D6-D0B6D2AFB4D7}"/>
              </a:ext>
            </a:extLst>
          </p:cNvPr>
          <p:cNvSpPr>
            <a:spLocks noGrp="1"/>
          </p:cNvSpPr>
          <p:nvPr/>
        </p:nvSpPr>
        <p:spPr>
          <a:xfrm>
            <a:off x="3028950" y="3752850"/>
            <a:ext cx="68580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324B6-C320-4219-A39B-4B942B9C505E}"/>
              </a:ext>
            </a:extLst>
          </p:cNvPr>
          <p:cNvSpPr>
            <a:spLocks noGrp="1"/>
          </p:cNvSpPr>
          <p:nvPr/>
        </p:nvSpPr>
        <p:spPr>
          <a:xfrm>
            <a:off x="3105150" y="38100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Last.fm Dataset - 1K users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79D737-6FA5-422A-B98D-1861365C0B23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2190750" cy="4572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67A9F8-599A-4B4A-AF09-A5EBF58E79EC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BDBB2B-96F2-4724-934A-42EE6DB43AC6}"/>
              </a:ext>
            </a:extLst>
          </p:cNvPr>
          <p:cNvSpPr>
            <a:spLocks noGrp="1"/>
          </p:cNvSpPr>
          <p:nvPr/>
        </p:nvSpPr>
        <p:spPr>
          <a:xfrm>
            <a:off x="3028950" y="4210050"/>
            <a:ext cx="6858000" cy="457200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8B1971-7919-464E-AA5F-4D3E83546B7F}"/>
              </a:ext>
            </a:extLst>
          </p:cNvPr>
          <p:cNvSpPr>
            <a:spLocks noGrp="1"/>
          </p:cNvSpPr>
          <p:nvPr/>
        </p:nvSpPr>
        <p:spPr>
          <a:xfrm>
            <a:off x="3105150" y="42672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CSV summaries, segments, metrics, and recommendations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6C1479-8A42-4DCB-9173-6481A58E9A88}"/>
              </a:ext>
            </a:extLst>
          </p:cNvPr>
          <p:cNvSpPr>
            <a:spLocks noGrp="1"/>
          </p:cNvSpPr>
          <p:nvPr/>
        </p:nvSpPr>
        <p:spPr>
          <a:xfrm>
            <a:off x="838200" y="4667250"/>
            <a:ext cx="219075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81929-47A5-4F5C-8FD5-802FB43952B5}"/>
              </a:ext>
            </a:extLst>
          </p:cNvPr>
          <p:cNvSpPr>
            <a:spLocks noGrp="1"/>
          </p:cNvSpPr>
          <p:nvPr/>
        </p:nvSpPr>
        <p:spPr>
          <a:xfrm>
            <a:off x="914400" y="47244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Guide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968E50-C146-4DB4-A43F-6A8AFCED6B33}"/>
              </a:ext>
            </a:extLst>
          </p:cNvPr>
          <p:cNvSpPr>
            <a:spLocks noGrp="1"/>
          </p:cNvSpPr>
          <p:nvPr/>
        </p:nvSpPr>
        <p:spPr>
          <a:xfrm>
            <a:off x="3028950" y="4667250"/>
            <a:ext cx="68580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2A0D32-9B17-49D9-94DE-E724CF025A30}"/>
              </a:ext>
            </a:extLst>
          </p:cNvPr>
          <p:cNvSpPr>
            <a:spLocks noGrp="1"/>
          </p:cNvSpPr>
          <p:nvPr/>
        </p:nvSpPr>
        <p:spPr>
          <a:xfrm>
            <a:off x="3105150" y="4724400"/>
            <a:ext cx="6705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README.md and BONUS_SUBMISSION_GUIDE.md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7A9C28-8616-4244-A03E-F796D850A5BB}"/>
              </a:ext>
            </a:extLst>
          </p:cNvPr>
          <p:cNvSpPr>
            <a:spLocks noGrp="1"/>
          </p:cNvSpPr>
          <p:nvPr/>
        </p:nvSpPr>
        <p:spPr>
          <a:xfrm>
            <a:off x="2038350" y="5372100"/>
            <a:ext cx="8115300" cy="647700"/>
          </a:xfrm>
          <a:prstGeom prst="rect">
            <a:avLst/>
          </a:prstGeom>
          <a:solidFill>
            <a:srgbClr val="FFFFFF">
              <a:alpha val="66667"/>
            </a:srgbClr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5A0425-250D-4190-A722-EBE69BAC26C7}"/>
              </a:ext>
            </a:extLst>
          </p:cNvPr>
          <p:cNvSpPr>
            <a:spLocks noGrp="1"/>
          </p:cNvSpPr>
          <p:nvPr/>
        </p:nvSpPr>
        <p:spPr>
          <a:xfrm>
            <a:off x="2038350" y="5372100"/>
            <a:ext cx="47625" cy="6477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02907E-A4C8-4532-A197-3BCF846B2AED}"/>
              </a:ext>
            </a:extLst>
          </p:cNvPr>
          <p:cNvSpPr>
            <a:spLocks noGrp="1"/>
          </p:cNvSpPr>
          <p:nvPr/>
        </p:nvSpPr>
        <p:spPr>
          <a:xfrm>
            <a:off x="2209800" y="5505450"/>
            <a:ext cx="7829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Demo flow: open Jupyter, run Part A analytics and clustering cells, then run Part B ALS training and recommendation output cells.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7BBA48-BCC4-4A56-8401-B287135D4299}"/>
              </a:ext>
            </a:extLst>
          </p:cNvPr>
          <p:cNvSpPr>
            <a:spLocks noGrp="1"/>
          </p:cNvSpPr>
          <p:nvPr/>
        </p:nvSpPr>
        <p:spPr>
          <a:xfrm>
            <a:off x="11163300" y="64579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59244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DocSecurity>0</DocSecurity>
  <PresentationFormat>Widescreen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Sahan Dharmawansa</cp:lastModifiedBy>
  <cp:revision>2</cp:revision>
  <dcterms:created xsi:type="dcterms:W3CDTF">2026-05-16T16:53:05Z</dcterms:created>
  <dcterms:modified xsi:type="dcterms:W3CDTF">2026-05-16T17:25:35Z</dcterms:modified>
</cp:coreProperties>
</file>